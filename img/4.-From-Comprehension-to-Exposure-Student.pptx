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70" r:id="rId3"/>
    <p:sldId id="353" r:id="rId4"/>
    <p:sldId id="321" r:id="rId5"/>
    <p:sldId id="354" r:id="rId6"/>
    <p:sldId id="355" r:id="rId7"/>
    <p:sldId id="356" r:id="rId8"/>
    <p:sldId id="357" r:id="rId9"/>
    <p:sldId id="359" r:id="rId10"/>
    <p:sldId id="360" r:id="rId11"/>
    <p:sldId id="361" r:id="rId12"/>
    <p:sldId id="362" r:id="rId13"/>
    <p:sldId id="352" r:id="rId14"/>
  </p:sldIdLst>
  <p:sldSz cx="18288000" cy="10287000"/>
  <p:notesSz cx="6858000" cy="9144000"/>
  <p:embeddedFontLst>
    <p:embeddedFont>
      <p:font typeface="Aqua Embrace" panose="020B0604020202020204" charset="-128"/>
      <p:regular r:id="rId16"/>
    </p:embeddedFont>
    <p:embeddedFont>
      <p:font typeface="Canva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78913" autoAdjust="0"/>
  </p:normalViewPr>
  <p:slideViewPr>
    <p:cSldViewPr>
      <p:cViewPr varScale="1">
        <p:scale>
          <a:sx n="24" d="100"/>
          <a:sy n="24" d="100"/>
        </p:scale>
        <p:origin x="55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lyn Castillo" userId="adf79ec03247677b" providerId="LiveId" clId="{21107114-0732-467E-A175-A1E7D34C240E}"/>
    <pc:docChg chg="undo custSel addSld delSld modSld sldOrd">
      <pc:chgData name="Dianalyn Castillo" userId="adf79ec03247677b" providerId="LiveId" clId="{21107114-0732-467E-A175-A1E7D34C240E}" dt="2026-09-17T15:03:29.071" v="2732" actId="20577"/>
      <pc:docMkLst>
        <pc:docMk/>
      </pc:docMkLst>
      <pc:sldChg chg="addSp delSp modSp mod modNotesTx">
        <pc:chgData name="Dianalyn Castillo" userId="adf79ec03247677b" providerId="LiveId" clId="{21107114-0732-467E-A175-A1E7D34C240E}" dt="2026-09-17T15:02:48.014" v="2725" actId="20577"/>
        <pc:sldMkLst>
          <pc:docMk/>
          <pc:sldMk cId="2500204464" sldId="270"/>
        </pc:sldMkLst>
      </pc:sldChg>
      <pc:sldChg chg="modNotesTx">
        <pc:chgData name="Dianalyn Castillo" userId="adf79ec03247677b" providerId="LiveId" clId="{21107114-0732-467E-A175-A1E7D34C240E}" dt="2026-09-17T15:02:57.752" v="2727" actId="20577"/>
        <pc:sldMkLst>
          <pc:docMk/>
          <pc:sldMk cId="755731870" sldId="321"/>
        </pc:sldMkLst>
      </pc:sldChg>
      <pc:sldChg chg="modNotesTx">
        <pc:chgData name="Dianalyn Castillo" userId="adf79ec03247677b" providerId="LiveId" clId="{21107114-0732-467E-A175-A1E7D34C240E}" dt="2026-09-17T15:02:53.068" v="2726" actId="20577"/>
        <pc:sldMkLst>
          <pc:docMk/>
          <pc:sldMk cId="3147854422" sldId="353"/>
        </pc:sldMkLst>
      </pc:sldChg>
      <pc:sldChg chg="modNotesTx">
        <pc:chgData name="Dianalyn Castillo" userId="adf79ec03247677b" providerId="LiveId" clId="{21107114-0732-467E-A175-A1E7D34C240E}" dt="2026-09-17T15:03:03.148" v="2728" actId="20577"/>
        <pc:sldMkLst>
          <pc:docMk/>
          <pc:sldMk cId="245492642" sldId="354"/>
        </pc:sldMkLst>
      </pc:sldChg>
      <pc:sldChg chg="modNotesTx">
        <pc:chgData name="Dianalyn Castillo" userId="adf79ec03247677b" providerId="LiveId" clId="{21107114-0732-467E-A175-A1E7D34C240E}" dt="2026-09-17T15:03:11.124" v="2729" actId="20577"/>
        <pc:sldMkLst>
          <pc:docMk/>
          <pc:sldMk cId="1798493952" sldId="356"/>
        </pc:sldMkLst>
      </pc:sldChg>
      <pc:sldChg chg="modNotesTx">
        <pc:chgData name="Dianalyn Castillo" userId="adf79ec03247677b" providerId="LiveId" clId="{21107114-0732-467E-A175-A1E7D34C240E}" dt="2026-09-17T15:03:18.837" v="2730" actId="20577"/>
        <pc:sldMkLst>
          <pc:docMk/>
          <pc:sldMk cId="1346204980" sldId="359"/>
        </pc:sldMkLst>
      </pc:sldChg>
      <pc:sldChg chg="modNotesTx">
        <pc:chgData name="Dianalyn Castillo" userId="adf79ec03247677b" providerId="LiveId" clId="{21107114-0732-467E-A175-A1E7D34C240E}" dt="2026-09-17T15:03:23.972" v="2731" actId="20577"/>
        <pc:sldMkLst>
          <pc:docMk/>
          <pc:sldMk cId="1295864402" sldId="360"/>
        </pc:sldMkLst>
      </pc:sldChg>
      <pc:sldChg chg="modNotesTx">
        <pc:chgData name="Dianalyn Castillo" userId="adf79ec03247677b" providerId="LiveId" clId="{21107114-0732-467E-A175-A1E7D34C240E}" dt="2026-09-17T15:03:29.071" v="2732" actId="20577"/>
        <pc:sldMkLst>
          <pc:docMk/>
          <pc:sldMk cId="2742418969" sldId="3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0C1CB-CC2A-4A3B-8D83-EF5A7CB7B416}" type="datetimeFigureOut">
              <a:rPr lang="en-PH" smtClean="0"/>
              <a:t>17/09/2026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8424C-09BA-4119-9CAD-C6529E79A05E}" type="slidenum">
              <a:rPr lang="en-PH" smtClean="0"/>
              <a:t>‹#›</a:t>
            </a:fld>
            <a:endParaRPr lang="en-PH"/>
          </a:p>
        </p:txBody>
      </p:sp>
    </p:spTree>
    <p:extLst>
      <p:ext uri="{BB962C8B-B14F-4D97-AF65-F5344CB8AC3E}">
        <p14:creationId xmlns:p14="http://schemas.microsoft.com/office/powerpoint/2010/main" val="2157037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2</a:t>
            </a:fld>
            <a:endParaRPr lang="en-PH"/>
          </a:p>
        </p:txBody>
      </p:sp>
    </p:spTree>
    <p:extLst>
      <p:ext uri="{BB962C8B-B14F-4D97-AF65-F5344CB8AC3E}">
        <p14:creationId xmlns:p14="http://schemas.microsoft.com/office/powerpoint/2010/main" val="1087319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3</a:t>
            </a:fld>
            <a:endParaRPr lang="en-PH"/>
          </a:p>
        </p:txBody>
      </p:sp>
    </p:spTree>
    <p:extLst>
      <p:ext uri="{BB962C8B-B14F-4D97-AF65-F5344CB8AC3E}">
        <p14:creationId xmlns:p14="http://schemas.microsoft.com/office/powerpoint/2010/main" val="816231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4</a:t>
            </a:fld>
            <a:endParaRPr lang="en-PH"/>
          </a:p>
        </p:txBody>
      </p:sp>
    </p:spTree>
    <p:extLst>
      <p:ext uri="{BB962C8B-B14F-4D97-AF65-F5344CB8AC3E}">
        <p14:creationId xmlns:p14="http://schemas.microsoft.com/office/powerpoint/2010/main" val="1899628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5</a:t>
            </a:fld>
            <a:endParaRPr lang="en-PH"/>
          </a:p>
        </p:txBody>
      </p:sp>
    </p:spTree>
    <p:extLst>
      <p:ext uri="{BB962C8B-B14F-4D97-AF65-F5344CB8AC3E}">
        <p14:creationId xmlns:p14="http://schemas.microsoft.com/office/powerpoint/2010/main" val="3346661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6</a:t>
            </a:fld>
            <a:endParaRPr lang="en-PH"/>
          </a:p>
        </p:txBody>
      </p:sp>
    </p:spTree>
    <p:extLst>
      <p:ext uri="{BB962C8B-B14F-4D97-AF65-F5344CB8AC3E}">
        <p14:creationId xmlns:p14="http://schemas.microsoft.com/office/powerpoint/2010/main" val="133212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7</a:t>
            </a:fld>
            <a:endParaRPr lang="en-PH"/>
          </a:p>
        </p:txBody>
      </p:sp>
    </p:spTree>
    <p:extLst>
      <p:ext uri="{BB962C8B-B14F-4D97-AF65-F5344CB8AC3E}">
        <p14:creationId xmlns:p14="http://schemas.microsoft.com/office/powerpoint/2010/main" val="2092188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68424C-09BA-4119-9CAD-C6529E79A05E}" type="slidenum">
              <a:rPr lang="en-PH" smtClean="0"/>
              <a:t>8</a:t>
            </a:fld>
            <a:endParaRPr lang="en-PH"/>
          </a:p>
        </p:txBody>
      </p:sp>
    </p:spTree>
    <p:extLst>
      <p:ext uri="{BB962C8B-B14F-4D97-AF65-F5344CB8AC3E}">
        <p14:creationId xmlns:p14="http://schemas.microsoft.com/office/powerpoint/2010/main" val="2366944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9</a:t>
            </a:fld>
            <a:endParaRPr lang="en-PH"/>
          </a:p>
        </p:txBody>
      </p:sp>
    </p:spTree>
    <p:extLst>
      <p:ext uri="{BB962C8B-B14F-4D97-AF65-F5344CB8AC3E}">
        <p14:creationId xmlns:p14="http://schemas.microsoft.com/office/powerpoint/2010/main" val="118065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10</a:t>
            </a:fld>
            <a:endParaRPr lang="en-PH"/>
          </a:p>
        </p:txBody>
      </p:sp>
    </p:spTree>
    <p:extLst>
      <p:ext uri="{BB962C8B-B14F-4D97-AF65-F5344CB8AC3E}">
        <p14:creationId xmlns:p14="http://schemas.microsoft.com/office/powerpoint/2010/main" val="2117164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468424C-09BA-4119-9CAD-C6529E79A05E}" type="slidenum">
              <a:rPr lang="en-PH" smtClean="0"/>
              <a:t>11</a:t>
            </a:fld>
            <a:endParaRPr lang="en-PH"/>
          </a:p>
        </p:txBody>
      </p:sp>
    </p:spTree>
    <p:extLst>
      <p:ext uri="{BB962C8B-B14F-4D97-AF65-F5344CB8AC3E}">
        <p14:creationId xmlns:p14="http://schemas.microsoft.com/office/powerpoint/2010/main" val="2078354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95934" y="1681292"/>
            <a:ext cx="3056440" cy="1528220"/>
          </a:xfrm>
          <a:custGeom>
            <a:avLst/>
            <a:gdLst/>
            <a:ahLst/>
            <a:cxnLst/>
            <a:rect l="l" t="t" r="r" b="b"/>
            <a:pathLst>
              <a:path w="3056440" h="1528220">
                <a:moveTo>
                  <a:pt x="0" y="0"/>
                </a:moveTo>
                <a:lnTo>
                  <a:pt x="3056440" y="0"/>
                </a:lnTo>
                <a:lnTo>
                  <a:pt x="3056440" y="1528220"/>
                </a:lnTo>
                <a:lnTo>
                  <a:pt x="0" y="1528220"/>
                </a:lnTo>
                <a:lnTo>
                  <a:pt x="0" y="0"/>
                </a:lnTo>
                <a:close/>
              </a:path>
            </a:pathLst>
          </a:custGeom>
          <a:blipFill>
            <a:blip r:embed="rId2"/>
            <a:stretch>
              <a:fillRect/>
            </a:stretch>
          </a:blipFill>
        </p:spPr>
      </p:sp>
      <p:sp>
        <p:nvSpPr>
          <p:cNvPr id="3" name="Freeform 3"/>
          <p:cNvSpPr/>
          <p:nvPr/>
        </p:nvSpPr>
        <p:spPr>
          <a:xfrm>
            <a:off x="9263724" y="1509521"/>
            <a:ext cx="2579206" cy="1719041"/>
          </a:xfrm>
          <a:custGeom>
            <a:avLst/>
            <a:gdLst/>
            <a:ahLst/>
            <a:cxnLst/>
            <a:rect l="l" t="t" r="r" b="b"/>
            <a:pathLst>
              <a:path w="2579206" h="1719041">
                <a:moveTo>
                  <a:pt x="0" y="0"/>
                </a:moveTo>
                <a:lnTo>
                  <a:pt x="2579206" y="0"/>
                </a:lnTo>
                <a:lnTo>
                  <a:pt x="2579206" y="1719041"/>
                </a:lnTo>
                <a:lnTo>
                  <a:pt x="0" y="1719041"/>
                </a:lnTo>
                <a:lnTo>
                  <a:pt x="0" y="0"/>
                </a:lnTo>
                <a:close/>
              </a:path>
            </a:pathLst>
          </a:custGeom>
          <a:blipFill>
            <a:blip r:embed="rId3"/>
            <a:stretch>
              <a:fillRect/>
            </a:stretch>
          </a:blipFill>
        </p:spPr>
      </p:sp>
      <p:sp>
        <p:nvSpPr>
          <p:cNvPr id="4" name="Freeform 4"/>
          <p:cNvSpPr/>
          <p:nvPr/>
        </p:nvSpPr>
        <p:spPr>
          <a:xfrm rot="5400000">
            <a:off x="-974777" y="9395233"/>
            <a:ext cx="2387023" cy="2387023"/>
          </a:xfrm>
          <a:custGeom>
            <a:avLst/>
            <a:gdLst/>
            <a:ahLst/>
            <a:cxnLst/>
            <a:rect l="l" t="t" r="r" b="b"/>
            <a:pathLst>
              <a:path w="2387023" h="2387023">
                <a:moveTo>
                  <a:pt x="0" y="0"/>
                </a:moveTo>
                <a:lnTo>
                  <a:pt x="2387022" y="0"/>
                </a:lnTo>
                <a:lnTo>
                  <a:pt x="2387022" y="2387022"/>
                </a:lnTo>
                <a:lnTo>
                  <a:pt x="0" y="238702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600402" y="-382071"/>
            <a:ext cx="2193133" cy="2193133"/>
          </a:xfrm>
          <a:custGeom>
            <a:avLst/>
            <a:gdLst/>
            <a:ahLst/>
            <a:cxnLst/>
            <a:rect l="l" t="t" r="r" b="b"/>
            <a:pathLst>
              <a:path w="2193133" h="2193133">
                <a:moveTo>
                  <a:pt x="0" y="0"/>
                </a:moveTo>
                <a:lnTo>
                  <a:pt x="2193133" y="0"/>
                </a:lnTo>
                <a:lnTo>
                  <a:pt x="2193133" y="2193134"/>
                </a:lnTo>
                <a:lnTo>
                  <a:pt x="0" y="219313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0" y="209935"/>
            <a:ext cx="18532675" cy="107322"/>
            <a:chOff x="0" y="0"/>
            <a:chExt cx="4881034" cy="28266"/>
          </a:xfrm>
        </p:grpSpPr>
        <p:sp>
          <p:nvSpPr>
            <p:cNvPr id="7" name="Freeform 7"/>
            <p:cNvSpPr/>
            <p:nvPr/>
          </p:nvSpPr>
          <p:spPr>
            <a:xfrm>
              <a:off x="0" y="0"/>
              <a:ext cx="4881034" cy="28266"/>
            </a:xfrm>
            <a:custGeom>
              <a:avLst/>
              <a:gdLst/>
              <a:ahLst/>
              <a:cxnLst/>
              <a:rect l="l" t="t" r="r" b="b"/>
              <a:pathLst>
                <a:path w="4881034" h="28266">
                  <a:moveTo>
                    <a:pt x="0" y="0"/>
                  </a:moveTo>
                  <a:lnTo>
                    <a:pt x="4881034" y="0"/>
                  </a:lnTo>
                  <a:lnTo>
                    <a:pt x="4881034" y="28266"/>
                  </a:lnTo>
                  <a:lnTo>
                    <a:pt x="0" y="28266"/>
                  </a:lnTo>
                  <a:close/>
                </a:path>
              </a:pathLst>
            </a:custGeom>
            <a:solidFill>
              <a:srgbClr val="1D88EB"/>
            </a:solidFill>
          </p:spPr>
        </p:sp>
        <p:sp>
          <p:nvSpPr>
            <p:cNvPr id="8" name="TextBox 8"/>
            <p:cNvSpPr txBox="1"/>
            <p:nvPr/>
          </p:nvSpPr>
          <p:spPr>
            <a:xfrm>
              <a:off x="0" y="-38100"/>
              <a:ext cx="4881034" cy="6636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244675" y="0"/>
            <a:ext cx="18532675" cy="209935"/>
            <a:chOff x="0" y="0"/>
            <a:chExt cx="4881034" cy="55292"/>
          </a:xfrm>
        </p:grpSpPr>
        <p:sp>
          <p:nvSpPr>
            <p:cNvPr id="10" name="Freeform 10"/>
            <p:cNvSpPr/>
            <p:nvPr/>
          </p:nvSpPr>
          <p:spPr>
            <a:xfrm>
              <a:off x="0" y="0"/>
              <a:ext cx="4881034" cy="55292"/>
            </a:xfrm>
            <a:custGeom>
              <a:avLst/>
              <a:gdLst/>
              <a:ahLst/>
              <a:cxnLst/>
              <a:rect l="l" t="t" r="r" b="b"/>
              <a:pathLst>
                <a:path w="4881034" h="55292">
                  <a:moveTo>
                    <a:pt x="0" y="0"/>
                  </a:moveTo>
                  <a:lnTo>
                    <a:pt x="4881034" y="0"/>
                  </a:lnTo>
                  <a:lnTo>
                    <a:pt x="4881034" y="55292"/>
                  </a:lnTo>
                  <a:lnTo>
                    <a:pt x="0" y="55292"/>
                  </a:lnTo>
                  <a:close/>
                </a:path>
              </a:pathLst>
            </a:custGeom>
            <a:solidFill>
              <a:srgbClr val="142FBB"/>
            </a:solidFill>
          </p:spPr>
        </p:sp>
        <p:sp>
          <p:nvSpPr>
            <p:cNvPr id="11" name="TextBox 11"/>
            <p:cNvSpPr txBox="1"/>
            <p:nvPr/>
          </p:nvSpPr>
          <p:spPr>
            <a:xfrm>
              <a:off x="0" y="-38100"/>
              <a:ext cx="4881034" cy="9339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flipH="1">
            <a:off x="173015" y="800100"/>
            <a:ext cx="45719" cy="8157993"/>
            <a:chOff x="0" y="0"/>
            <a:chExt cx="11392" cy="1718754"/>
          </a:xfrm>
        </p:grpSpPr>
        <p:sp>
          <p:nvSpPr>
            <p:cNvPr id="13" name="Freeform 13"/>
            <p:cNvSpPr/>
            <p:nvPr/>
          </p:nvSpPr>
          <p:spPr>
            <a:xfrm>
              <a:off x="0" y="0"/>
              <a:ext cx="11392" cy="1718754"/>
            </a:xfrm>
            <a:custGeom>
              <a:avLst/>
              <a:gdLst/>
              <a:ahLst/>
              <a:cxnLst/>
              <a:rect l="l" t="t" r="r" b="b"/>
              <a:pathLst>
                <a:path w="11392" h="1718754">
                  <a:moveTo>
                    <a:pt x="0" y="0"/>
                  </a:moveTo>
                  <a:lnTo>
                    <a:pt x="11392" y="0"/>
                  </a:lnTo>
                  <a:lnTo>
                    <a:pt x="11392" y="1718754"/>
                  </a:lnTo>
                  <a:lnTo>
                    <a:pt x="0" y="1718754"/>
                  </a:lnTo>
                  <a:close/>
                </a:path>
              </a:pathLst>
            </a:custGeom>
            <a:solidFill>
              <a:srgbClr val="142FBB"/>
            </a:solidFill>
          </p:spPr>
        </p:sp>
        <p:sp>
          <p:nvSpPr>
            <p:cNvPr id="14" name="TextBox 14"/>
            <p:cNvSpPr txBox="1"/>
            <p:nvPr/>
          </p:nvSpPr>
          <p:spPr>
            <a:xfrm>
              <a:off x="0" y="-19050"/>
              <a:ext cx="11392" cy="1737804"/>
            </a:xfrm>
            <a:prstGeom prst="rect">
              <a:avLst/>
            </a:prstGeom>
          </p:spPr>
          <p:txBody>
            <a:bodyPr lIns="50800" tIns="50800" rIns="50800" bIns="50800" rtlCol="0" anchor="ctr"/>
            <a:lstStyle/>
            <a:p>
              <a:pPr algn="ctr">
                <a:lnSpc>
                  <a:spcPts val="2859"/>
                </a:lnSpc>
              </a:pPr>
              <a:endParaRPr/>
            </a:p>
          </p:txBody>
        </p:sp>
      </p:grpSp>
      <p:sp>
        <p:nvSpPr>
          <p:cNvPr id="15" name="Freeform 15"/>
          <p:cNvSpPr/>
          <p:nvPr/>
        </p:nvSpPr>
        <p:spPr>
          <a:xfrm rot="-5400000">
            <a:off x="14679903" y="6795816"/>
            <a:ext cx="4069328" cy="3636962"/>
          </a:xfrm>
          <a:custGeom>
            <a:avLst/>
            <a:gdLst/>
            <a:ahLst/>
            <a:cxnLst/>
            <a:rect l="l" t="t" r="r" b="b"/>
            <a:pathLst>
              <a:path w="4069328" h="3636962">
                <a:moveTo>
                  <a:pt x="0" y="0"/>
                </a:moveTo>
                <a:lnTo>
                  <a:pt x="4069327" y="0"/>
                </a:lnTo>
                <a:lnTo>
                  <a:pt x="4069327" y="3636962"/>
                </a:lnTo>
                <a:lnTo>
                  <a:pt x="0" y="3636962"/>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sp>
      <p:grpSp>
        <p:nvGrpSpPr>
          <p:cNvPr id="16" name="Group 16"/>
          <p:cNvGrpSpPr/>
          <p:nvPr/>
        </p:nvGrpSpPr>
        <p:grpSpPr>
          <a:xfrm>
            <a:off x="2159565" y="3228562"/>
            <a:ext cx="13033097" cy="2171472"/>
            <a:chOff x="0" y="0"/>
            <a:chExt cx="3432585" cy="571910"/>
          </a:xfrm>
        </p:grpSpPr>
        <p:sp>
          <p:nvSpPr>
            <p:cNvPr id="17" name="Freeform 17"/>
            <p:cNvSpPr/>
            <p:nvPr/>
          </p:nvSpPr>
          <p:spPr>
            <a:xfrm>
              <a:off x="0" y="0"/>
              <a:ext cx="3432585" cy="571910"/>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rgbClr val="9DD0FF"/>
            </a:solidFill>
            <a:ln w="66675" cap="rnd">
              <a:solidFill>
                <a:srgbClr val="1D88EB"/>
              </a:solidFill>
              <a:prstDash val="solid"/>
              <a:round/>
            </a:ln>
          </p:spPr>
        </p:sp>
        <p:sp>
          <p:nvSpPr>
            <p:cNvPr id="18" name="TextBox 18"/>
            <p:cNvSpPr txBox="1"/>
            <p:nvPr/>
          </p:nvSpPr>
          <p:spPr>
            <a:xfrm>
              <a:off x="0" y="-38100"/>
              <a:ext cx="3432585" cy="61001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844906" y="3219235"/>
            <a:ext cx="15681465" cy="1807033"/>
          </a:xfrm>
          <a:prstGeom prst="rect">
            <a:avLst/>
          </a:prstGeom>
        </p:spPr>
        <p:txBody>
          <a:bodyPr lIns="0" tIns="0" rIns="0" bIns="0" rtlCol="0" anchor="t">
            <a:spAutoFit/>
          </a:bodyPr>
          <a:lstStyle/>
          <a:p>
            <a:pPr algn="ctr">
              <a:lnSpc>
                <a:spcPts val="15259"/>
              </a:lnSpc>
            </a:pPr>
            <a:r>
              <a:rPr lang="en-US" sz="10899" dirty="0">
                <a:solidFill>
                  <a:srgbClr val="000000"/>
                </a:solidFill>
                <a:latin typeface="Aqua Embrace"/>
                <a:ea typeface="Aqua Embrace"/>
                <a:cs typeface="Aqua Embrace"/>
                <a:sym typeface="Aqua Embrace"/>
              </a:rPr>
              <a:t>Consumer Behavior</a:t>
            </a:r>
          </a:p>
        </p:txBody>
      </p:sp>
      <p:grpSp>
        <p:nvGrpSpPr>
          <p:cNvPr id="20" name="Group 20"/>
          <p:cNvGrpSpPr/>
          <p:nvPr/>
        </p:nvGrpSpPr>
        <p:grpSpPr>
          <a:xfrm>
            <a:off x="10727686" y="9395233"/>
            <a:ext cx="3930275" cy="891767"/>
            <a:chOff x="0" y="0"/>
            <a:chExt cx="5240366" cy="1189023"/>
          </a:xfrm>
        </p:grpSpPr>
        <p:sp>
          <p:nvSpPr>
            <p:cNvPr id="21" name="Freeform 21"/>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22" name="Freeform 22"/>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23" name="Freeform 23"/>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24" name="Freeform 24"/>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25" name="Group 25"/>
          <p:cNvGrpSpPr/>
          <p:nvPr/>
        </p:nvGrpSpPr>
        <p:grpSpPr>
          <a:xfrm>
            <a:off x="6324600" y="9347087"/>
            <a:ext cx="3930275" cy="891767"/>
            <a:chOff x="0" y="0"/>
            <a:chExt cx="5240366" cy="1189023"/>
          </a:xfrm>
        </p:grpSpPr>
        <p:sp>
          <p:nvSpPr>
            <p:cNvPr id="26" name="Freeform 26"/>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27" name="Freeform 27"/>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28" name="Freeform 28"/>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29" name="Freeform 29"/>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30" name="Group 30"/>
          <p:cNvGrpSpPr/>
          <p:nvPr/>
        </p:nvGrpSpPr>
        <p:grpSpPr>
          <a:xfrm>
            <a:off x="1826787" y="9395233"/>
            <a:ext cx="3930275" cy="891767"/>
            <a:chOff x="0" y="0"/>
            <a:chExt cx="5240366" cy="1189023"/>
          </a:xfrm>
        </p:grpSpPr>
        <p:sp>
          <p:nvSpPr>
            <p:cNvPr id="31" name="Freeform 31"/>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6"/>
              <a:stretch>
                <a:fillRect b="-39747"/>
              </a:stretch>
            </a:blipFill>
          </p:spPr>
        </p:sp>
        <p:sp>
          <p:nvSpPr>
            <p:cNvPr id="32" name="Freeform 32"/>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7"/>
              <a:stretch>
                <a:fillRect/>
              </a:stretch>
            </a:blipFill>
          </p:spPr>
        </p:sp>
        <p:sp>
          <p:nvSpPr>
            <p:cNvPr id="33" name="Freeform 33"/>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8"/>
              <a:stretch>
                <a:fillRect/>
              </a:stretch>
            </a:blipFill>
          </p:spPr>
        </p:sp>
        <p:sp>
          <p:nvSpPr>
            <p:cNvPr id="34" name="Freeform 34"/>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9"/>
              <a:stretch>
                <a:fillRect/>
              </a:stretch>
            </a:blipFill>
          </p:spPr>
        </p:sp>
      </p:grpSp>
      <p:grpSp>
        <p:nvGrpSpPr>
          <p:cNvPr id="35" name="Group 35"/>
          <p:cNvGrpSpPr/>
          <p:nvPr/>
        </p:nvGrpSpPr>
        <p:grpSpPr>
          <a:xfrm>
            <a:off x="335281" y="1409700"/>
            <a:ext cx="45719" cy="7136402"/>
            <a:chOff x="0" y="0"/>
            <a:chExt cx="11392" cy="1559553"/>
          </a:xfrm>
        </p:grpSpPr>
        <p:sp>
          <p:nvSpPr>
            <p:cNvPr id="36" name="Freeform 36"/>
            <p:cNvSpPr/>
            <p:nvPr/>
          </p:nvSpPr>
          <p:spPr>
            <a:xfrm>
              <a:off x="0" y="0"/>
              <a:ext cx="11392" cy="1559553"/>
            </a:xfrm>
            <a:custGeom>
              <a:avLst/>
              <a:gdLst/>
              <a:ahLst/>
              <a:cxnLst/>
              <a:rect l="l" t="t" r="r" b="b"/>
              <a:pathLst>
                <a:path w="11392" h="1559553">
                  <a:moveTo>
                    <a:pt x="0" y="0"/>
                  </a:moveTo>
                  <a:lnTo>
                    <a:pt x="11392" y="0"/>
                  </a:lnTo>
                  <a:lnTo>
                    <a:pt x="11392" y="1559553"/>
                  </a:lnTo>
                  <a:lnTo>
                    <a:pt x="0" y="1559553"/>
                  </a:lnTo>
                  <a:close/>
                </a:path>
              </a:pathLst>
            </a:custGeom>
            <a:solidFill>
              <a:srgbClr val="1D88EB"/>
            </a:solidFill>
          </p:spPr>
        </p:sp>
        <p:sp>
          <p:nvSpPr>
            <p:cNvPr id="37" name="TextBox 37"/>
            <p:cNvSpPr txBox="1"/>
            <p:nvPr/>
          </p:nvSpPr>
          <p:spPr>
            <a:xfrm>
              <a:off x="0" y="-19050"/>
              <a:ext cx="11392" cy="1578603"/>
            </a:xfrm>
            <a:prstGeom prst="rect">
              <a:avLst/>
            </a:prstGeom>
          </p:spPr>
          <p:txBody>
            <a:bodyPr lIns="50800" tIns="50800" rIns="50800" bIns="50800" rtlCol="0" anchor="ctr"/>
            <a:lstStyle/>
            <a:p>
              <a:pPr algn="ctr">
                <a:lnSpc>
                  <a:spcPts val="2859"/>
                </a:lnSpc>
              </a:pPr>
              <a:endParaRPr/>
            </a:p>
          </p:txBody>
        </p:sp>
      </p:grpSp>
      <p:sp>
        <p:nvSpPr>
          <p:cNvPr id="38" name="Freeform 38"/>
          <p:cNvSpPr/>
          <p:nvPr/>
        </p:nvSpPr>
        <p:spPr>
          <a:xfrm rot="-5400000">
            <a:off x="11530491" y="4433816"/>
            <a:ext cx="10682471" cy="3072381"/>
          </a:xfrm>
          <a:custGeom>
            <a:avLst/>
            <a:gdLst/>
            <a:ahLst/>
            <a:cxnLst/>
            <a:rect l="l" t="t" r="r" b="b"/>
            <a:pathLst>
              <a:path w="10682471" h="3072381">
                <a:moveTo>
                  <a:pt x="0" y="0"/>
                </a:moveTo>
                <a:lnTo>
                  <a:pt x="10682472" y="0"/>
                </a:lnTo>
                <a:lnTo>
                  <a:pt x="10682472" y="3072381"/>
                </a:lnTo>
                <a:lnTo>
                  <a:pt x="0" y="3072381"/>
                </a:lnTo>
                <a:lnTo>
                  <a:pt x="0" y="0"/>
                </a:lnTo>
                <a:close/>
              </a:path>
            </a:pathLst>
          </a:custGeom>
          <a:blipFill>
            <a:blip r:embed="rId10"/>
            <a:stretch>
              <a:fillRect t="-7650" b="-7650"/>
            </a:stretch>
          </a:blipFill>
        </p:spPr>
      </p:sp>
      <p:sp>
        <p:nvSpPr>
          <p:cNvPr id="39" name="Freeform 39"/>
          <p:cNvSpPr/>
          <p:nvPr/>
        </p:nvSpPr>
        <p:spPr>
          <a:xfrm>
            <a:off x="5876884" y="4453470"/>
            <a:ext cx="6318096" cy="3814230"/>
          </a:xfrm>
          <a:custGeom>
            <a:avLst/>
            <a:gdLst/>
            <a:ahLst/>
            <a:cxnLst/>
            <a:rect l="l" t="t" r="r" b="b"/>
            <a:pathLst>
              <a:path w="6318096" h="3814230">
                <a:moveTo>
                  <a:pt x="0" y="0"/>
                </a:moveTo>
                <a:lnTo>
                  <a:pt x="6318097" y="0"/>
                </a:lnTo>
                <a:lnTo>
                  <a:pt x="6318097" y="3814230"/>
                </a:lnTo>
                <a:lnTo>
                  <a:pt x="0" y="3814230"/>
                </a:lnTo>
                <a:lnTo>
                  <a:pt x="0" y="0"/>
                </a:lnTo>
                <a:close/>
              </a:path>
            </a:pathLst>
          </a:custGeom>
          <a:blipFill>
            <a:blip r:embed="rId11"/>
            <a:stretch>
              <a:fillRect l="-3550"/>
            </a:stretch>
          </a:blipFill>
        </p:spPr>
        <p:txBody>
          <a:bodyPr/>
          <a:lstStyle/>
          <a:p>
            <a:endParaRPr lang="en-PH" dirty="0"/>
          </a:p>
        </p:txBody>
      </p:sp>
      <p:sp>
        <p:nvSpPr>
          <p:cNvPr id="40" name="TextBox 40"/>
          <p:cNvSpPr txBox="1"/>
          <p:nvPr/>
        </p:nvSpPr>
        <p:spPr>
          <a:xfrm>
            <a:off x="5757062" y="3286228"/>
            <a:ext cx="6314424" cy="580389"/>
          </a:xfrm>
          <a:prstGeom prst="rect">
            <a:avLst/>
          </a:prstGeom>
        </p:spPr>
        <p:txBody>
          <a:bodyPr lIns="0" tIns="0" rIns="0" bIns="0" rtlCol="0" anchor="t">
            <a:spAutoFit/>
          </a:bodyPr>
          <a:lstStyle/>
          <a:p>
            <a:pPr algn="ctr">
              <a:lnSpc>
                <a:spcPts val="4760"/>
              </a:lnSpc>
            </a:pPr>
            <a:r>
              <a:rPr lang="en-US" sz="3400">
                <a:solidFill>
                  <a:srgbClr val="000000"/>
                </a:solidFill>
                <a:latin typeface="Canva Sans Bold"/>
                <a:ea typeface="Canva Sans Bold"/>
                <a:cs typeface="Canva Sans Bold"/>
                <a:sym typeface="Canva Sans Bold"/>
              </a:rPr>
              <a:t>MKTG50</a:t>
            </a:r>
          </a:p>
        </p:txBody>
      </p:sp>
      <p:sp>
        <p:nvSpPr>
          <p:cNvPr id="43" name="TextBox 42">
            <a:extLst>
              <a:ext uri="{FF2B5EF4-FFF2-40B4-BE49-F238E27FC236}">
                <a16:creationId xmlns:a16="http://schemas.microsoft.com/office/drawing/2014/main" id="{3E2228AB-1D55-F7E6-1256-418AE66F27E5}"/>
              </a:ext>
            </a:extLst>
          </p:cNvPr>
          <p:cNvSpPr txBox="1"/>
          <p:nvPr/>
        </p:nvSpPr>
        <p:spPr>
          <a:xfrm>
            <a:off x="3967316" y="5515585"/>
            <a:ext cx="9881418" cy="369332"/>
          </a:xfrm>
          <a:prstGeom prst="rect">
            <a:avLst/>
          </a:prstGeom>
          <a:noFill/>
        </p:spPr>
        <p:txBody>
          <a:bodyPr wrap="square">
            <a:spAutoFit/>
          </a:bodyPr>
          <a:lstStyle/>
          <a:p>
            <a:endParaRPr lang="en-PH" dirty="0"/>
          </a:p>
        </p:txBody>
      </p:sp>
      <p:sp>
        <p:nvSpPr>
          <p:cNvPr id="47" name="TextBox 46">
            <a:extLst>
              <a:ext uri="{FF2B5EF4-FFF2-40B4-BE49-F238E27FC236}">
                <a16:creationId xmlns:a16="http://schemas.microsoft.com/office/drawing/2014/main" id="{2937A5D0-2277-C351-A9CD-57EB2BA0B3E3}"/>
              </a:ext>
            </a:extLst>
          </p:cNvPr>
          <p:cNvSpPr txBox="1"/>
          <p:nvPr/>
        </p:nvSpPr>
        <p:spPr>
          <a:xfrm>
            <a:off x="3967316" y="5515585"/>
            <a:ext cx="9881418" cy="369332"/>
          </a:xfrm>
          <a:prstGeom prst="rect">
            <a:avLst/>
          </a:prstGeom>
          <a:noFill/>
        </p:spPr>
        <p:txBody>
          <a:bodyPr wrap="square">
            <a:spAutoFit/>
          </a:bodyPr>
          <a:lstStyle/>
          <a:p>
            <a:endParaRPr lang="en-PH" dirty="0"/>
          </a:p>
        </p:txBody>
      </p:sp>
      <p:sp>
        <p:nvSpPr>
          <p:cNvPr id="41" name="TextBox 19">
            <a:extLst>
              <a:ext uri="{FF2B5EF4-FFF2-40B4-BE49-F238E27FC236}">
                <a16:creationId xmlns:a16="http://schemas.microsoft.com/office/drawing/2014/main" id="{19F725FB-5D8D-9D1A-C13E-7BE4252F2CAE}"/>
              </a:ext>
            </a:extLst>
          </p:cNvPr>
          <p:cNvSpPr txBox="1"/>
          <p:nvPr/>
        </p:nvSpPr>
        <p:spPr>
          <a:xfrm>
            <a:off x="918937" y="6288211"/>
            <a:ext cx="15681465" cy="1674689"/>
          </a:xfrm>
          <a:prstGeom prst="rect">
            <a:avLst/>
          </a:prstGeom>
        </p:spPr>
        <p:txBody>
          <a:bodyPr lIns="0" tIns="0" rIns="0" bIns="0" rtlCol="0" anchor="t">
            <a:spAutoFit/>
          </a:bodyPr>
          <a:lstStyle/>
          <a:p>
            <a:pPr algn="ctr">
              <a:lnSpc>
                <a:spcPts val="15259"/>
              </a:lnSpc>
            </a:pPr>
            <a:r>
              <a:rPr lang="en-US" sz="5400" dirty="0">
                <a:solidFill>
                  <a:srgbClr val="000000"/>
                </a:solidFill>
                <a:latin typeface="Aqua Embrace" panose="020B0604020202020204" charset="-128"/>
                <a:ea typeface="Aqua Embrace" panose="020B0604020202020204" charset="-128"/>
                <a:cs typeface="Aqua Embrace"/>
                <a:sym typeface="Aqua Embrace"/>
              </a:rPr>
              <a:t>From Comprehension to Exposure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7161-E765-FA28-8916-F90C96961E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D7F508-AD39-85A2-457E-A92F1E7CA319}"/>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FBFEA7E7-A9EF-B70F-7407-6DA430E5B8CF}"/>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33AF9E1C-0F93-2646-53FE-8B1ABBBF87B1}"/>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EBF51009-C196-B78D-2603-433B1D04E2E5}"/>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A6FE01C5-05E7-58B0-89A2-86024897702F}"/>
              </a:ext>
            </a:extLst>
          </p:cNvPr>
          <p:cNvSpPr/>
          <p:nvPr/>
        </p:nvSpPr>
        <p:spPr>
          <a:xfrm>
            <a:off x="6248400" y="1017270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4778B94C-E866-FFA8-52A1-B07BDFBF3234}"/>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4BC5E51-A773-139C-EC16-541D72882264}"/>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136D961-C353-5EE4-F943-95EC13871D6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0459D10A-0640-6F4C-41C7-9496ED11B96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11C66731-199D-3DF8-E7A5-D8E9A305CB8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60ABC29B-087A-CB28-3B8D-03D7F1B091B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ABF0D7A6-F2DB-5001-1E52-20F60DBFC2C9}"/>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810A3797-746E-91CF-ECBF-6CC3A8F72F5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A46D6361-3349-6280-0363-B03BE781A17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29785486-BDEA-108A-17A1-FFCD1499A10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70C83278-F972-5BD9-18E5-3CA4C7DD23B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776C5A6F-8D34-BEBA-9FBF-01F735A6596B}"/>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EADB7CE-E0DC-A37E-CFA9-CA391FBDC94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FE7B653A-D5DF-B701-0B01-B5AF7D9E4A2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FCFA3BF7-ECA3-DE4E-4F31-C8B2D9DBC99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3CF50DA8-1C7A-97BC-757C-D80C5B84EC6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5E499332-ADDC-47ED-AA72-D0B6F6953733}"/>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27010D4-BFED-FE9E-DB69-ED787D95151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1F7DA4B4-E322-3E20-6693-D4444A734C3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8F22AB4B-58EE-D85E-9E6F-8A551145BF2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05E06425-BF29-9151-723C-9ADC20B940F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43101A5A-B444-8E03-21D3-560332903E6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AD849E15-61E6-EC07-2B7D-51FA82AA8A0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D3F4D1B3-5D7B-DC32-ACCF-D1588407372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898C5F7C-5E0D-88FD-7DAF-23632B61EDC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D1843E47-99F6-215B-777C-C3A7651DE580}"/>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DF871738-FD02-63CD-C280-6747CCBE8569}"/>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FCD9223F-0FB1-C1FD-2F62-2A20B58C28FE}"/>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200" b="1" dirty="0">
                <a:latin typeface="Arial" panose="020B0604020202020204" pitchFamily="34" charset="0"/>
                <a:ea typeface="Calibri" panose="020F0502020204030204" pitchFamily="34" charset="0"/>
                <a:cs typeface="Arial" panose="020B0604020202020204" pitchFamily="34" charset="0"/>
              </a:rPr>
              <a:t>EXPOSURE AND CONSUMER BEHAVIOR</a:t>
            </a:r>
            <a:endParaRPr lang="en-US" sz="80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F71017E-A7B6-54E1-2336-46F32FA5D59F}"/>
              </a:ext>
            </a:extLst>
          </p:cNvPr>
          <p:cNvSpPr txBox="1"/>
          <p:nvPr/>
        </p:nvSpPr>
        <p:spPr>
          <a:xfrm>
            <a:off x="431910" y="2461574"/>
            <a:ext cx="9550289" cy="4306115"/>
          </a:xfrm>
          <a:prstGeom prst="rect">
            <a:avLst/>
          </a:prstGeom>
          <a:noFill/>
        </p:spPr>
        <p:txBody>
          <a:bodyPr wrap="square">
            <a:spAutoFit/>
          </a:bodyPr>
          <a:lstStyle/>
          <a:p>
            <a:pPr algn="just">
              <a:lnSpc>
                <a:spcPct val="107000"/>
              </a:lnSpc>
              <a:spcAft>
                <a:spcPts val="800"/>
              </a:spcAft>
            </a:pPr>
            <a:r>
              <a:rPr lang="en-US" sz="3500" b="1" kern="100" dirty="0">
                <a:effectLst/>
                <a:latin typeface="Arial" panose="020B0604020202020204" pitchFamily="34" charset="0"/>
                <a:ea typeface="Calibri" panose="020F0502020204030204" pitchFamily="34" charset="0"/>
                <a:cs typeface="Times New Roman" panose="02020603050405020304" pitchFamily="18" charset="0"/>
              </a:rPr>
              <a:t>Exposure </a:t>
            </a:r>
            <a:r>
              <a:rPr lang="en-US" sz="3500" kern="100" dirty="0">
                <a:effectLst/>
                <a:latin typeface="Arial" panose="020B0604020202020204" pitchFamily="34" charset="0"/>
                <a:ea typeface="Calibri" panose="020F0502020204030204" pitchFamily="34" charset="0"/>
                <a:cs typeface="Times New Roman" panose="02020603050405020304" pitchFamily="18" charset="0"/>
              </a:rPr>
              <a:t>is the process by which the consumer comes in physical contact with stimulus.</a:t>
            </a:r>
          </a:p>
          <a:p>
            <a:pPr algn="just">
              <a:lnSpc>
                <a:spcPct val="107000"/>
              </a:lnSpc>
              <a:spcAft>
                <a:spcPts val="800"/>
              </a:spcAft>
            </a:pPr>
            <a:endParaRPr lang="en-US" sz="3500" kern="1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500" i="1" kern="100" dirty="0">
                <a:effectLst/>
                <a:latin typeface="Calibri" panose="020F0502020204030204" pitchFamily="34" charset="0"/>
                <a:ea typeface="Calibri" panose="020F0502020204030204" pitchFamily="34" charset="0"/>
                <a:cs typeface="Times New Roman" panose="02020603050405020304" pitchFamily="18" charset="0"/>
              </a:rPr>
              <a:t>Marketing stimuli </a:t>
            </a:r>
            <a:r>
              <a:rPr lang="en-US" sz="3500" kern="100" dirty="0">
                <a:effectLst/>
                <a:latin typeface="Calibri" panose="020F0502020204030204" pitchFamily="34" charset="0"/>
                <a:ea typeface="Calibri" panose="020F0502020204030204" pitchFamily="34" charset="0"/>
                <a:cs typeface="Times New Roman" panose="02020603050405020304" pitchFamily="18" charset="0"/>
              </a:rPr>
              <a:t>is the Information about commercial offerings communicated either by the marketer.</a:t>
            </a:r>
            <a:endParaRPr lang="en-PH" sz="35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76F042EE-3E1C-5907-38B5-ED3A68EF16FC}"/>
              </a:ext>
            </a:extLst>
          </p:cNvPr>
          <p:cNvPicPr>
            <a:picLocks noChangeAspect="1"/>
          </p:cNvPicPr>
          <p:nvPr/>
        </p:nvPicPr>
        <p:blipFill>
          <a:blip r:embed="rId7"/>
          <a:stretch>
            <a:fillRect/>
          </a:stretch>
        </p:blipFill>
        <p:spPr>
          <a:xfrm>
            <a:off x="10362260" y="2264241"/>
            <a:ext cx="7816417" cy="5010192"/>
          </a:xfrm>
          <a:prstGeom prst="rect">
            <a:avLst/>
          </a:prstGeom>
        </p:spPr>
      </p:pic>
    </p:spTree>
    <p:extLst>
      <p:ext uri="{BB962C8B-B14F-4D97-AF65-F5344CB8AC3E}">
        <p14:creationId xmlns:p14="http://schemas.microsoft.com/office/powerpoint/2010/main" val="250020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E46BE-96FC-9CA2-0594-643C22C394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EE20A-849F-E1CB-84D8-98BE2AE7EC56}"/>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41CF688B-6D2B-D270-DA9D-74F647CE3BB6}"/>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9AA2F8B1-79E0-169A-333C-BF5CF78A2D8B}"/>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FFD9C7C3-17B3-411D-011B-365D07CFD65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0A9618EA-1882-865E-E0CC-47D303370349}"/>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AC180779-09A6-8867-5A21-B0FC781DCF63}"/>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967EDF7A-2F25-6ED6-6C41-71E207612893}"/>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ECF1785-4553-D41E-00AA-F3AFA1C8E86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95A5B37E-0378-A9CD-C872-1C8E6A5DA30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06E6A037-74D8-DDAC-5ABE-EB63EE92E66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D9FD9DF9-AFC4-7835-9DE6-2DCEC34D5F2F}"/>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DD839DD1-03AF-67D0-C184-673C78134D2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E0C9D809-EC0A-31AE-799C-9F1609A45AB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9C89424A-DFD0-F142-7CD4-AD43CC5026A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AEB5A110-86C9-99CD-282F-3BD8DC85C04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BBF76F28-2D30-EDAE-03CB-B3478E3497EE}"/>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C2EBACCA-70A8-D35A-5068-96D209A4161C}"/>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A17CC0D-4DB6-DFBF-5F63-EF358A51C0A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75BF1527-DE28-69A2-D840-A4628489CCEC}"/>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B2739760-9CFE-2BAD-4E2E-E2F7243E872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1A0BE3C8-0648-94D9-6481-7A62E2F6C4B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2AE0AEF6-138E-7F78-E362-700B15696BA3}"/>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246AEEEC-C59F-7FAC-2845-D59155C07D0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517E1A95-9886-8750-044E-E6103FB0D1E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45816E66-8970-7FDF-42E5-2ECCEC9E9BF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C832D63E-DAEA-DEC4-CFCF-DC4923BFE9B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1A604D3F-EC41-A4D7-F5F2-837DE05D5609}"/>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5CCB47B-7813-9296-50EF-AD2943C799C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4F2F1AC8-2448-B653-AA0A-1F8F3F792B3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05841ABC-79D4-E098-7943-5EC249EC59A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3E4032E7-D9A5-88BA-CF4E-2791BF91B9E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3F7EE7BC-93CC-285D-D044-558F1A87BD67}"/>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EE79AD14-8655-7B40-4737-63F1B5B4DD3A}"/>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4400" b="1" dirty="0">
                <a:latin typeface="Arial" panose="020B0604020202020204" pitchFamily="34" charset="0"/>
                <a:cs typeface="Arial" panose="020B0604020202020204" pitchFamily="34" charset="0"/>
              </a:rPr>
              <a:t>Factors influencing exposure</a:t>
            </a:r>
          </a:p>
        </p:txBody>
      </p:sp>
      <p:sp>
        <p:nvSpPr>
          <p:cNvPr id="11" name="TextBox 10">
            <a:extLst>
              <a:ext uri="{FF2B5EF4-FFF2-40B4-BE49-F238E27FC236}">
                <a16:creationId xmlns:a16="http://schemas.microsoft.com/office/drawing/2014/main" id="{291E8A1C-21B1-681E-089D-C99E010618EE}"/>
              </a:ext>
            </a:extLst>
          </p:cNvPr>
          <p:cNvSpPr txBox="1"/>
          <p:nvPr/>
        </p:nvSpPr>
        <p:spPr>
          <a:xfrm>
            <a:off x="533400" y="2546440"/>
            <a:ext cx="9550289" cy="2049600"/>
          </a:xfrm>
          <a:prstGeom prst="rect">
            <a:avLst/>
          </a:prstGeom>
          <a:noFill/>
        </p:spPr>
        <p:txBody>
          <a:bodyPr wrap="square">
            <a:spAutoFit/>
          </a:bodyPr>
          <a:lstStyle/>
          <a:p>
            <a:pPr marL="571500" indent="-571500" algn="just">
              <a:lnSpc>
                <a:spcPct val="107000"/>
              </a:lnSpc>
              <a:spcAft>
                <a:spcPts val="800"/>
              </a:spcAft>
              <a:buFont typeface="Arial" panose="020B0604020202020204" pitchFamily="34" charset="0"/>
              <a:buChar char="•"/>
            </a:pPr>
            <a:r>
              <a:rPr lang="en-US" sz="3600" kern="100" dirty="0">
                <a:effectLst/>
                <a:latin typeface="Calibri" panose="020F0502020204030204" pitchFamily="34" charset="0"/>
                <a:ea typeface="Calibri" panose="020F0502020204030204" pitchFamily="34" charset="0"/>
                <a:cs typeface="Times New Roman" panose="02020603050405020304" pitchFamily="18" charset="0"/>
              </a:rPr>
              <a:t>The position of an ad within a medium</a:t>
            </a:r>
          </a:p>
          <a:p>
            <a:pPr algn="just">
              <a:lnSpc>
                <a:spcPct val="107000"/>
              </a:lnSpc>
              <a:spcAft>
                <a:spcPts val="800"/>
              </a:spcAft>
            </a:pPr>
            <a:endParaRPr lang="en-US"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571500" algn="just">
              <a:lnSpc>
                <a:spcPct val="107000"/>
              </a:lnSpc>
              <a:spcAft>
                <a:spcPts val="800"/>
              </a:spcAft>
              <a:buFont typeface="Arial" panose="020B0604020202020204" pitchFamily="34" charset="0"/>
              <a:buChar char="•"/>
            </a:pPr>
            <a:r>
              <a:rPr lang="en-US" sz="3600" kern="100" dirty="0">
                <a:effectLst/>
                <a:latin typeface="Calibri" panose="020F0502020204030204" pitchFamily="34" charset="0"/>
                <a:ea typeface="Calibri" panose="020F0502020204030204" pitchFamily="34" charset="0"/>
                <a:cs typeface="Times New Roman" panose="02020603050405020304" pitchFamily="18" charset="0"/>
              </a:rPr>
              <a:t>Product distribution and shelf placement</a:t>
            </a:r>
          </a:p>
        </p:txBody>
      </p:sp>
      <p:pic>
        <p:nvPicPr>
          <p:cNvPr id="1026" name="Picture 2" descr="The secret to perfect shelf positioning ...">
            <a:extLst>
              <a:ext uri="{FF2B5EF4-FFF2-40B4-BE49-F238E27FC236}">
                <a16:creationId xmlns:a16="http://schemas.microsoft.com/office/drawing/2014/main" id="{43C49A41-CC94-E4BC-37B3-5C3DCF1431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34615" y="2247900"/>
            <a:ext cx="7753385" cy="515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854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584FF-C4CD-8A1D-8C5E-57338BB928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A9ECA7-AA8B-28D1-D846-07FF1F04B99D}"/>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19EDF275-7A33-CB8A-7646-390CBC834246}"/>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306DA01B-0C91-2636-67F0-7091C9E78D4C}"/>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D5B2B104-3B13-F260-D978-CF7E72AAD685}"/>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50804A3B-C213-AE19-5E2B-455AD39F4C99}"/>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0E4283A5-A6D9-C8D1-01C6-CBF3F5AE233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ECA9FC59-91A2-DEC4-7CB7-167F4EA1E86C}"/>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674854A-3C1B-4242-E640-14703AD1230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79A5404D-603B-547F-C095-4D198C36F68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DC283E75-5058-92F9-44C2-E7DCED38512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099CE22C-DC77-242B-7F72-01FA2E163D8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4A92B43F-76D9-35D9-378C-AC1E0C48AA67}"/>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CBC83E45-181A-4F0A-6237-6E6B8F9E13C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0A4AD44E-432C-D72E-20A1-23724FC7CEF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02F3C5AC-0A86-3E83-91BB-51D1832060A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3654B0CD-9E7E-688E-F787-1A888114845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1AB3D193-9F90-4991-21CD-19ECEAF05B1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1135E43D-E66B-8A7A-9B8A-CDFBCC8C55C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8D7535A1-1877-C50F-5554-57AB97531BE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BD4C910C-D77A-5BD0-697D-574E41419C2A}"/>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6A70B464-11FC-DB35-529F-1A0DC45643C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15B0EFFA-F391-4797-615A-EADB1A5943D5}"/>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D6D46442-C9B4-C9E1-A971-E428D3EC57C1}"/>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57ADE25E-EB3A-6796-3AE1-B68CD85B75B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E6423B90-BE66-07C2-256A-43BD67BED46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79E61750-EC64-7607-0FA6-5CEB2E35271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9BF10E7E-D9FB-6BAD-6F03-7D3E0A6470A0}"/>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6F7F2BA-4483-D115-00C9-ABA777E0135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C9561027-06F5-F9A5-FDEA-AF45C3F366A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0244929C-52D2-5BE2-1383-62EC31B6D7F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4C068D9F-63E3-3BF9-2303-CE9B1D872F6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FC4574B2-6D63-7FA1-C1C6-220D8C32023A}"/>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88356341-44F9-12DC-FAA7-55E987DD9CDC}"/>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EXPOSURE</a:t>
            </a:r>
          </a:p>
        </p:txBody>
      </p:sp>
      <p:sp>
        <p:nvSpPr>
          <p:cNvPr id="11" name="TextBox 10">
            <a:extLst>
              <a:ext uri="{FF2B5EF4-FFF2-40B4-BE49-F238E27FC236}">
                <a16:creationId xmlns:a16="http://schemas.microsoft.com/office/drawing/2014/main" id="{CA20F20A-C19A-A485-AECF-178E9F93F136}"/>
              </a:ext>
            </a:extLst>
          </p:cNvPr>
          <p:cNvSpPr txBox="1"/>
          <p:nvPr/>
        </p:nvSpPr>
        <p:spPr>
          <a:xfrm>
            <a:off x="326130" y="2288246"/>
            <a:ext cx="10383005" cy="8657819"/>
          </a:xfrm>
          <a:prstGeom prst="rect">
            <a:avLst/>
          </a:prstGeom>
          <a:noFill/>
        </p:spPr>
        <p:txBody>
          <a:bodyPr wrap="square">
            <a:spAutoFit/>
          </a:bodyPr>
          <a:lstStyle/>
          <a:p>
            <a:pPr algn="just">
              <a:lnSpc>
                <a:spcPct val="107000"/>
              </a:lnSpc>
              <a:spcAft>
                <a:spcPts val="800"/>
              </a:spcAft>
            </a:pPr>
            <a:r>
              <a:rPr lang="en-US" sz="3400" b="1" kern="100" dirty="0">
                <a:effectLst/>
                <a:latin typeface="Arial" panose="020B0604020202020204" pitchFamily="34" charset="0"/>
                <a:ea typeface="Calibri" panose="020F0502020204030204" pitchFamily="34" charset="0"/>
                <a:cs typeface="Times New Roman" panose="02020603050405020304" pitchFamily="18" charset="0"/>
              </a:rPr>
              <a:t>	Selective exposure </a:t>
            </a:r>
            <a:r>
              <a:rPr lang="en-US" sz="3400" kern="100" dirty="0">
                <a:latin typeface="Arial" panose="020B0604020202020204" pitchFamily="34" charset="0"/>
                <a:ea typeface="Calibri" panose="020F0502020204030204" pitchFamily="34" charset="0"/>
                <a:cs typeface="Times New Roman" panose="02020603050405020304" pitchFamily="18" charset="0"/>
              </a:rPr>
              <a:t>is when c</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onsumers actively seek out certain stimuli and avoid or resist others.</a:t>
            </a:r>
          </a:p>
          <a:p>
            <a:pPr algn="just">
              <a:lnSpc>
                <a:spcPct val="107000"/>
              </a:lnSpc>
              <a:spcAft>
                <a:spcPts val="800"/>
              </a:spcAft>
            </a:pPr>
            <a:r>
              <a:rPr lang="en-US" sz="3400" b="1" kern="100" dirty="0">
                <a:effectLst/>
                <a:latin typeface="Arial" panose="020B0604020202020204" pitchFamily="34" charset="0"/>
                <a:ea typeface="Calibri" panose="020F0502020204030204" pitchFamily="34" charset="0"/>
                <a:cs typeface="Times New Roman" panose="02020603050405020304" pitchFamily="18" charset="0"/>
              </a:rPr>
              <a:t>Ad avoidance</a:t>
            </a:r>
          </a:p>
          <a:p>
            <a:pPr marL="514350" indent="-514350" algn="just">
              <a:lnSpc>
                <a:spcPct val="107000"/>
              </a:lnSpc>
              <a:spcAft>
                <a:spcPts val="800"/>
              </a:spcAft>
              <a:buAutoNum type="arabicPeriod"/>
            </a:pPr>
            <a:r>
              <a:rPr lang="en-US" sz="3400" i="1" kern="100" dirty="0">
                <a:effectLst/>
                <a:latin typeface="Arial" panose="020B0604020202020204" pitchFamily="34" charset="0"/>
                <a:ea typeface="Calibri" panose="020F0502020204030204" pitchFamily="34" charset="0"/>
                <a:cs typeface="Times New Roman" panose="02020603050405020304" pitchFamily="18" charset="0"/>
              </a:rPr>
              <a:t>Zipping </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 Fast-forwarding through commercials on a program recorded earlier. </a:t>
            </a:r>
          </a:p>
          <a:p>
            <a:pPr marL="514350" indent="-514350" algn="just">
              <a:lnSpc>
                <a:spcPct val="107000"/>
              </a:lnSpc>
              <a:spcAft>
                <a:spcPts val="800"/>
              </a:spcAft>
              <a:buAutoNum type="arabicPeriod"/>
            </a:pPr>
            <a:r>
              <a:rPr lang="en-US" sz="3400" i="1" kern="100" dirty="0">
                <a:effectLst/>
                <a:latin typeface="Arial" panose="020B0604020202020204" pitchFamily="34" charset="0"/>
                <a:ea typeface="Calibri" panose="020F0502020204030204" pitchFamily="34" charset="0"/>
                <a:cs typeface="Times New Roman" panose="02020603050405020304" pitchFamily="18" charset="0"/>
              </a:rPr>
              <a:t>Skipping</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 - Skipping pre-roll commercials in online channels, such as YouTube. </a:t>
            </a:r>
          </a:p>
          <a:p>
            <a:pPr marL="514350" indent="-514350" algn="just">
              <a:lnSpc>
                <a:spcPct val="107000"/>
              </a:lnSpc>
              <a:spcAft>
                <a:spcPts val="800"/>
              </a:spcAft>
              <a:buAutoNum type="arabicPeriod"/>
            </a:pPr>
            <a:r>
              <a:rPr lang="en-US" sz="3400" i="1" kern="100" dirty="0">
                <a:effectLst/>
                <a:latin typeface="Arial" panose="020B0604020202020204" pitchFamily="34" charset="0"/>
                <a:ea typeface="Calibri" panose="020F0502020204030204" pitchFamily="34" charset="0"/>
                <a:cs typeface="Times New Roman" panose="02020603050405020304" pitchFamily="18" charset="0"/>
              </a:rPr>
              <a:t>Zapping</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 - Use of a remote control to switch channels during commercial breaks. </a:t>
            </a:r>
          </a:p>
          <a:p>
            <a:pPr marL="514350" indent="-514350" algn="just">
              <a:lnSpc>
                <a:spcPct val="107000"/>
              </a:lnSpc>
              <a:spcAft>
                <a:spcPts val="800"/>
              </a:spcAft>
              <a:buFontTx/>
              <a:buAutoNum type="arabicPeriod"/>
            </a:pPr>
            <a:r>
              <a:rPr lang="en-US" sz="3400" i="1" kern="100" dirty="0">
                <a:effectLst/>
                <a:latin typeface="Arial" panose="020B0604020202020204" pitchFamily="34" charset="0"/>
                <a:ea typeface="Calibri" panose="020F0502020204030204" pitchFamily="34" charset="0"/>
                <a:cs typeface="Times New Roman" panose="02020603050405020304" pitchFamily="18" charset="0"/>
              </a:rPr>
              <a:t>Cord-cutting</a:t>
            </a:r>
            <a:r>
              <a:rPr lang="en-US" sz="3400" kern="100" dirty="0">
                <a:latin typeface="Arial" panose="020B0604020202020204" pitchFamily="34" charset="0"/>
                <a:ea typeface="Calibri" panose="020F0502020204030204" pitchFamily="34" charset="0"/>
                <a:cs typeface="Times New Roman" panose="02020603050405020304" pitchFamily="18" charset="0"/>
              </a:rPr>
              <a:t> - </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Dropping cable or satellite television subscriptions in </a:t>
            </a:r>
            <a:r>
              <a:rPr lang="en-US" sz="3400" kern="100" dirty="0" err="1">
                <a:effectLst/>
                <a:latin typeface="Arial" panose="020B0604020202020204" pitchFamily="34" charset="0"/>
                <a:ea typeface="Calibri" panose="020F0502020204030204" pitchFamily="34" charset="0"/>
                <a:cs typeface="Times New Roman" panose="02020603050405020304" pitchFamily="18" charset="0"/>
              </a:rPr>
              <a:t>favour</a:t>
            </a:r>
            <a:r>
              <a:rPr lang="en-US" sz="3400" kern="100" dirty="0">
                <a:effectLst/>
                <a:latin typeface="Arial" panose="020B0604020202020204" pitchFamily="34" charset="0"/>
                <a:ea typeface="Calibri" panose="020F0502020204030204" pitchFamily="34" charset="0"/>
                <a:cs typeface="Times New Roman" panose="02020603050405020304" pitchFamily="18" charset="0"/>
              </a:rPr>
              <a:t> of streaming services </a:t>
            </a:r>
            <a:r>
              <a:rPr lang="en-PH" sz="3600" dirty="0"/>
              <a:t>such as Netflix, Amazon Prime Video, etc.  </a:t>
            </a:r>
          </a:p>
          <a:p>
            <a:pPr marL="514350" indent="-514350" algn="just">
              <a:lnSpc>
                <a:spcPct val="107000"/>
              </a:lnSpc>
              <a:spcAft>
                <a:spcPts val="800"/>
              </a:spcAft>
              <a:buAutoNum type="arabicPeriod"/>
            </a:pPr>
            <a:endParaRPr lang="en-US" sz="3400" kern="100" dirty="0">
              <a:effectLst/>
              <a:latin typeface="Arial" panose="020B060402020202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AutoNum type="alphaUcPeriod"/>
            </a:pP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52" name="Picture 4" descr="The First 5 Seconds of a YouTube Ad Can Keep People Watching – Pavle  Marinković">
            <a:extLst>
              <a:ext uri="{FF2B5EF4-FFF2-40B4-BE49-F238E27FC236}">
                <a16:creationId xmlns:a16="http://schemas.microsoft.com/office/drawing/2014/main" id="{F873E06C-4934-E4CF-4CEE-264AB4B711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35265" y="2415230"/>
            <a:ext cx="7299718" cy="4826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731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D3474-ABF1-D31A-8165-78E5584A21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E68045-7CB9-2FFD-EA27-2B2764308DB2}"/>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2841521-5D0B-9D3E-E0D4-F19DF1B86C99}"/>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2C17A552-CD09-A6CE-F188-DD440F399220}"/>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3BAD3C9A-ACE0-D70E-9E0D-7D3880CCD909}"/>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7AC49CAC-4AD2-DB69-946C-D0F497D499BA}"/>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52D416FA-4E6F-516B-C3EC-F4AE1FBF0189}"/>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23C5204-F2A1-DDF9-B89C-062032053ADF}"/>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88D2D1F5-3DB8-1683-4A1A-646832EB3A9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2F162FAB-D942-00D8-AEC7-A8AAA631E61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E3AC58A3-4E9F-8AA8-67F0-673ADB2E061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DC1F486B-D856-0ADA-D282-2B4AEAF0824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9F7F90DA-F51D-6FD8-ED47-653A8286766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D720C5DC-77EC-2563-EC48-4D0221B7A402}"/>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2B540231-4DB7-4F07-5613-32743CAE764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6D76202C-0344-A68F-0C1F-51B0777D5D7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98F4C3FF-6640-E426-FE94-63EF5A64427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72FBD795-AA84-3DFA-DDE5-0F37BAEAF608}"/>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0C25275A-921E-7C51-53A0-4A195D38F10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BC0056F7-4DD6-7DCC-16AF-E72C465DE01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9C1CB2CD-68D2-39C7-7FC8-E812A04855A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C9AACF25-FCEE-91BB-0872-3A44A43E23F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30416BCF-5731-6D76-F15E-EEB542062F6D}"/>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076A5CB0-6154-E13A-0800-FCC9986B876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82E66D68-26EE-9862-3668-66ECC05D100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EC909CB8-EAF5-139A-E161-67008A5DD38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A21DBBC8-C7B9-739D-E742-9D74B1B8712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B7C3032C-83E8-FC3D-4AE6-3B1FFB6F137A}"/>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489B6DBF-C178-AABD-B15D-0607DBC1F23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37F98AA5-4B87-31CC-1279-3C1688527BA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DC74C59C-260C-75DE-B1D4-91E334C7E84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442BA983-0641-2D82-8365-C337E1BFDDA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7DE9028D-1D27-2158-5890-BE7B64EA53A3}"/>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29ADA7A2-5106-2D60-29D3-C40E3477919A}"/>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200" b="1" dirty="0">
                <a:latin typeface="Arial" panose="020B0604020202020204" pitchFamily="34" charset="0"/>
                <a:cs typeface="Arial" panose="020B0604020202020204" pitchFamily="34" charset="0"/>
              </a:rPr>
              <a:t>ATTENTION AND CONSUMER BEHAVIOR</a:t>
            </a:r>
          </a:p>
        </p:txBody>
      </p:sp>
      <p:sp>
        <p:nvSpPr>
          <p:cNvPr id="11" name="TextBox 10">
            <a:extLst>
              <a:ext uri="{FF2B5EF4-FFF2-40B4-BE49-F238E27FC236}">
                <a16:creationId xmlns:a16="http://schemas.microsoft.com/office/drawing/2014/main" id="{25AB5D00-566F-DBBA-A92C-DA9BEE0668CA}"/>
              </a:ext>
            </a:extLst>
          </p:cNvPr>
          <p:cNvSpPr txBox="1"/>
          <p:nvPr/>
        </p:nvSpPr>
        <p:spPr>
          <a:xfrm>
            <a:off x="401283" y="3923222"/>
            <a:ext cx="9241994" cy="1248034"/>
          </a:xfrm>
          <a:prstGeom prst="rect">
            <a:avLst/>
          </a:prstGeom>
          <a:noFill/>
        </p:spPr>
        <p:txBody>
          <a:bodyPr wrap="square">
            <a:spAutoFit/>
          </a:bodyPr>
          <a:lstStyle/>
          <a:p>
            <a:pPr algn="just">
              <a:lnSpc>
                <a:spcPct val="107000"/>
              </a:lnSpc>
              <a:spcAft>
                <a:spcPts val="800"/>
              </a:spcAft>
            </a:pPr>
            <a:r>
              <a:rPr lang="en-US" sz="3600" b="1" kern="100" dirty="0">
                <a:effectLst/>
                <a:latin typeface="Arial" panose="020B0604020202020204" pitchFamily="34" charset="0"/>
                <a:ea typeface="Calibri" panose="020F0502020204030204" pitchFamily="34" charset="0"/>
                <a:cs typeface="Times New Roman" panose="02020603050405020304" pitchFamily="18" charset="0"/>
              </a:rPr>
              <a:t>Attention </a:t>
            </a:r>
            <a:r>
              <a:rPr lang="en-US" sz="3600" kern="100" dirty="0">
                <a:effectLst/>
                <a:latin typeface="Arial" panose="020B0604020202020204" pitchFamily="34" charset="0"/>
                <a:ea typeface="Calibri" panose="020F0502020204030204" pitchFamily="34" charset="0"/>
                <a:cs typeface="Times New Roman" panose="02020603050405020304" pitchFamily="18" charset="0"/>
              </a:rPr>
              <a:t>is the amount of mental activity a consumer devotes to a stimulus. </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560A0E3C-20EB-BFD1-F7CD-98C2A28340A3}"/>
              </a:ext>
            </a:extLst>
          </p:cNvPr>
          <p:cNvPicPr>
            <a:picLocks noChangeAspect="1"/>
          </p:cNvPicPr>
          <p:nvPr/>
        </p:nvPicPr>
        <p:blipFill>
          <a:blip r:embed="rId7"/>
          <a:stretch>
            <a:fillRect/>
          </a:stretch>
        </p:blipFill>
        <p:spPr>
          <a:xfrm>
            <a:off x="9816296" y="2576362"/>
            <a:ext cx="8667066" cy="5767538"/>
          </a:xfrm>
          <a:prstGeom prst="rect">
            <a:avLst/>
          </a:prstGeom>
        </p:spPr>
      </p:pic>
    </p:spTree>
    <p:extLst>
      <p:ext uri="{BB962C8B-B14F-4D97-AF65-F5344CB8AC3E}">
        <p14:creationId xmlns:p14="http://schemas.microsoft.com/office/powerpoint/2010/main" val="24549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121B-1D2C-1890-3408-771888EEF2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9A98F5E-C053-1B07-01F5-C5FD40BE1C80}"/>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ACDDEA03-3604-7695-25DD-7989238FFD0A}"/>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8002298E-4901-6F16-067C-4A08CA1307D9}"/>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D5BFBC22-91C3-8722-8CD9-6C7C0544538D}"/>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6D649830-EF52-3938-D7BE-DBEC7792716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0385B2C-5A1F-DFD5-25D6-F9B9A5813BE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2005F396-912A-B77D-E82B-A1BC7D07CF8F}"/>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3119DEC4-968C-B127-F58E-A5391C297D2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BD30DA7D-8362-23AA-7B59-FF3520AFBCB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3715D88C-DA6B-8633-6808-0B038A8593F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009D2C00-BC1F-5CA0-B4B9-9A3715EB910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B7700BA7-09C1-E2D9-997A-3BCC037F5486}"/>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66F7536A-2B5C-3FFE-5650-1487F8BF1C7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F26EEFB7-8D3B-DDB7-42E8-4B4656B923B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8F698F0B-F852-9FED-A0AA-EC91208CCF3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C717A7F2-D1C1-C5BD-A6A9-30CA097C95A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ED6209C4-52F1-E58E-32AF-3D43AED0319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F9337C59-B5F2-C697-9FAD-481E2817E15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47314150-09D0-C8C5-AA1C-E9A958AC384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E91CF756-B672-A225-4F6C-10176692DAC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F55FC2BA-A91F-BB3E-61CC-22023DC426F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F8ED1A1D-4079-3D4B-B370-86B81E8A77B2}"/>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F40C321D-0449-B2C9-9FBA-584FD5CCFF77}"/>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EC4E9FEA-6EF3-DD80-0259-5D96154D925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BC1127D3-F0AA-2B7C-9FC5-49274A958CC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F08268A7-F229-1C6D-8395-C991F4A8B06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AA86012E-71DC-2C33-0EA3-4566945D9D96}"/>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CE7AC22E-DE10-687F-206A-DC429690612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C9866024-304A-3BA2-1531-9FEDD1CC7B3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B02AC8DD-7F7A-3A05-5AE5-1CC9A10009A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40F6C372-3E51-2B9F-A787-C2F8FDAB5F9C}"/>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7CC4B480-0413-4811-92A9-DBDC7CC2A068}"/>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143965BC-6DC3-868F-0351-6933183BB209}"/>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CHARACTERISTIC OF ATTENTION</a:t>
            </a:r>
          </a:p>
        </p:txBody>
      </p:sp>
      <p:sp>
        <p:nvSpPr>
          <p:cNvPr id="11" name="TextBox 10">
            <a:extLst>
              <a:ext uri="{FF2B5EF4-FFF2-40B4-BE49-F238E27FC236}">
                <a16:creationId xmlns:a16="http://schemas.microsoft.com/office/drawing/2014/main" id="{4C2F809B-3C71-6840-2568-DC3ED0A45B99}"/>
              </a:ext>
            </a:extLst>
          </p:cNvPr>
          <p:cNvSpPr txBox="1"/>
          <p:nvPr/>
        </p:nvSpPr>
        <p:spPr>
          <a:xfrm>
            <a:off x="429241" y="2537330"/>
            <a:ext cx="11333517" cy="6260753"/>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1) Attention is limited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 Consumers cannot possibly attend to all stimuli in the environment, even if they would want to see everything.  </a:t>
            </a:r>
          </a:p>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2) Attention is selective -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Because attention is limited, consumers need to select what to pay attention to and simultaneously what not to pay attention to. </a:t>
            </a:r>
          </a:p>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3) Attention can be divided -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We can divide our attentional resources over time, by allocating some attention to one task and some to another, or by very rapidly switching attention between tasks. </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20B0AA1-4326-4A06-5D22-A3FA4B1A5BCC}"/>
              </a:ext>
            </a:extLst>
          </p:cNvPr>
          <p:cNvPicPr>
            <a:picLocks noChangeAspect="1"/>
          </p:cNvPicPr>
          <p:nvPr/>
        </p:nvPicPr>
        <p:blipFill>
          <a:blip r:embed="rId7"/>
          <a:stretch>
            <a:fillRect/>
          </a:stretch>
        </p:blipFill>
        <p:spPr>
          <a:xfrm>
            <a:off x="11791095" y="2140948"/>
            <a:ext cx="6537537" cy="4633479"/>
          </a:xfrm>
          <a:prstGeom prst="rect">
            <a:avLst/>
          </a:prstGeom>
        </p:spPr>
      </p:pic>
    </p:spTree>
    <p:extLst>
      <p:ext uri="{BB962C8B-B14F-4D97-AF65-F5344CB8AC3E}">
        <p14:creationId xmlns:p14="http://schemas.microsoft.com/office/powerpoint/2010/main" val="2815327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33C4-560D-15C8-3CDA-BFCE82C992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8FDB74-BAED-FB9E-B736-4D220B504C35}"/>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DACA2938-E335-1B26-9F24-BA94D1F4DC3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832F4C89-5D81-9CAC-73A9-95DCBD1AB728}"/>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95852FD2-C3EB-E6B5-0BE0-E227500088C2}"/>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4A29AD2F-D5CE-4808-902B-3B4261455A5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04248493-CF26-7158-7C26-C3BD7E6414ED}"/>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31F79430-6673-B4B8-D262-30F9D1EC7361}"/>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DE65E0C-B8E8-6CB4-9C31-AA933E3B0C2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74FC52DF-9AC2-5031-5F28-B8443EEA53F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8F10FEE2-DEB2-EE69-CDF5-F301633AB03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9FDA4482-D2AF-9197-FC77-B4270334D65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8398BF30-4C9E-F4AB-A064-820906007BF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8016BF5D-545C-2A30-5783-BE325BC0E7A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533030E9-D28B-FFE9-5A06-C70B9AE10EE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711C11B2-4093-4B25-A119-DF06988C9CF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DFE60703-91BA-E0C8-2828-99E2FE9E9D9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D0A8E763-6A51-5B36-C76D-63EBA0F5766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7DA11511-0D31-DAEA-BB89-ABEA98DD84F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82E794A1-F5A9-A134-2498-9CF0BA0E55A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B5FD2423-2364-BFC6-8732-A16EDF08627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94F3B492-8872-D948-64A2-C9A6954E95C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7F98B588-286B-FE9B-A7C1-6FAB481DB8B0}"/>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4B091A84-21B1-3235-9113-DD5EC10205B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BE3BB513-E4A7-4A0F-813F-4728E1B7240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1B840774-3C8C-EEAA-3CDE-A3843AFD929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6BE04195-6ECF-1D1C-6238-21A8A17B2B4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EA978A1F-3B54-DFBB-0B3C-FFC1AF52F8A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7EE1762-3CF2-BB37-5860-A9EC2C0447C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0D5336CF-96D2-5014-B53D-6A64B940EB5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866A76F5-2D8F-AB11-AFDC-0C23C2EAF8E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802BCDED-2972-6A96-9C29-02B16FBE839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6A0B3386-0A73-3140-143B-F9821B51FDB0}"/>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DAF33049-3D24-7F1A-FAC6-D8CB162CFAAA}"/>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ATTENTION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0AC7A43-671E-58C4-79ED-74C714C68EC6}"/>
              </a:ext>
            </a:extLst>
          </p:cNvPr>
          <p:cNvSpPr txBox="1"/>
          <p:nvPr/>
        </p:nvSpPr>
        <p:spPr>
          <a:xfrm>
            <a:off x="326130" y="2018041"/>
            <a:ext cx="10887745" cy="6223883"/>
          </a:xfrm>
          <a:prstGeom prst="rect">
            <a:avLst/>
          </a:prstGeom>
          <a:noFill/>
        </p:spPr>
        <p:txBody>
          <a:bodyPr wrap="square">
            <a:spAutoFit/>
          </a:bodyPr>
          <a:lstStyle/>
          <a:p>
            <a:pPr marL="457200" indent="-457200" algn="just">
              <a:lnSpc>
                <a:spcPct val="107000"/>
              </a:lnSpc>
              <a:spcAft>
                <a:spcPts val="800"/>
              </a:spcAft>
              <a:buFont typeface="Arial" panose="020B0604020202020204" pitchFamily="34" charset="0"/>
              <a:buChar char="•"/>
            </a:pPr>
            <a:r>
              <a:rPr lang="en-US" sz="3500" b="1" kern="100" dirty="0">
                <a:effectLst/>
                <a:latin typeface="Arial" panose="020B0604020202020204" pitchFamily="34" charset="0"/>
                <a:ea typeface="Calibri" panose="020F0502020204030204" pitchFamily="34" charset="0"/>
                <a:cs typeface="Times New Roman" panose="02020603050405020304" pitchFamily="18" charset="0"/>
              </a:rPr>
              <a:t>Focal attention - </a:t>
            </a:r>
            <a:r>
              <a:rPr lang="en-US" sz="3500" kern="100" dirty="0">
                <a:effectLst/>
                <a:latin typeface="Arial" panose="020B0604020202020204" pitchFamily="34" charset="0"/>
                <a:ea typeface="Calibri" panose="020F0502020204030204" pitchFamily="34" charset="0"/>
                <a:cs typeface="Times New Roman" panose="02020603050405020304" pitchFamily="18" charset="0"/>
              </a:rPr>
              <a:t>Focusing on a stimulus. </a:t>
            </a:r>
          </a:p>
          <a:p>
            <a:pPr algn="just">
              <a:lnSpc>
                <a:spcPct val="107000"/>
              </a:lnSpc>
              <a:spcAft>
                <a:spcPts val="800"/>
              </a:spcAft>
            </a:pPr>
            <a:endParaRPr lang="en-US" sz="3500" kern="100" dirty="0">
              <a:effectLst/>
              <a:latin typeface="Arial" panose="020B0604020202020204" pitchFamily="34"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Arial" panose="020B0604020202020204" pitchFamily="34" charset="0"/>
              <a:buChar char="•"/>
            </a:pPr>
            <a:r>
              <a:rPr lang="en-US" sz="3500" b="1" kern="100" dirty="0">
                <a:effectLst/>
                <a:latin typeface="Arial" panose="020B0604020202020204" pitchFamily="34" charset="0"/>
                <a:ea typeface="Calibri" panose="020F0502020204030204" pitchFamily="34" charset="0"/>
                <a:cs typeface="Times New Roman" panose="02020603050405020304" pitchFamily="18" charset="0"/>
              </a:rPr>
              <a:t>Non-focal attention </a:t>
            </a:r>
            <a:r>
              <a:rPr lang="en-US" sz="3500" kern="100" dirty="0">
                <a:effectLst/>
                <a:latin typeface="Arial" panose="020B0604020202020204" pitchFamily="34" charset="0"/>
                <a:ea typeface="Calibri" panose="020F0502020204030204" pitchFamily="34" charset="0"/>
                <a:cs typeface="Times New Roman" panose="02020603050405020304" pitchFamily="18" charset="0"/>
              </a:rPr>
              <a:t>- While focusing on a stimulus, simultaneously being exposed to other stimuli.</a:t>
            </a:r>
          </a:p>
          <a:p>
            <a:pPr algn="just">
              <a:lnSpc>
                <a:spcPct val="107000"/>
              </a:lnSpc>
              <a:spcAft>
                <a:spcPts val="800"/>
              </a:spcAft>
            </a:pPr>
            <a:endParaRPr lang="en-US" sz="3500" kern="100" dirty="0">
              <a:effectLst/>
              <a:latin typeface="Arial" panose="020B0604020202020204" pitchFamily="34"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Arial" panose="020B0604020202020204" pitchFamily="34" charset="0"/>
              <a:buChar char="•"/>
            </a:pPr>
            <a:r>
              <a:rPr lang="en-US" sz="3500" b="1" kern="100" dirty="0">
                <a:effectLst/>
                <a:latin typeface="Arial" panose="020B0604020202020204" pitchFamily="34" charset="0"/>
                <a:ea typeface="Calibri" panose="020F0502020204030204" pitchFamily="34" charset="0"/>
                <a:cs typeface="Times New Roman" panose="02020603050405020304" pitchFamily="18" charset="0"/>
              </a:rPr>
              <a:t>Pre-attentive processing </a:t>
            </a:r>
            <a:r>
              <a:rPr lang="en-US" sz="3500" kern="100" dirty="0">
                <a:effectLst/>
                <a:latin typeface="Arial" panose="020B0604020202020204" pitchFamily="34" charset="0"/>
                <a:ea typeface="Calibri" panose="020F0502020204030204" pitchFamily="34" charset="0"/>
                <a:cs typeface="Times New Roman" panose="02020603050405020304" pitchFamily="18" charset="0"/>
              </a:rPr>
              <a:t>- The nonconscious processing of stimuli. Devote just enough attention to an object in our peripheral vision to process something about it, we are usually not aware that we are absorbing and processing that information. </a:t>
            </a:r>
          </a:p>
        </p:txBody>
      </p:sp>
      <p:pic>
        <p:nvPicPr>
          <p:cNvPr id="10" name="Picture 9">
            <a:extLst>
              <a:ext uri="{FF2B5EF4-FFF2-40B4-BE49-F238E27FC236}">
                <a16:creationId xmlns:a16="http://schemas.microsoft.com/office/drawing/2014/main" id="{B6B96EFB-6D96-CE58-3231-3E1699864E59}"/>
              </a:ext>
            </a:extLst>
          </p:cNvPr>
          <p:cNvPicPr>
            <a:picLocks noChangeAspect="1"/>
          </p:cNvPicPr>
          <p:nvPr/>
        </p:nvPicPr>
        <p:blipFill>
          <a:blip r:embed="rId7"/>
          <a:stretch>
            <a:fillRect/>
          </a:stretch>
        </p:blipFill>
        <p:spPr>
          <a:xfrm>
            <a:off x="11368950" y="2450177"/>
            <a:ext cx="5557262" cy="5386645"/>
          </a:xfrm>
          <a:prstGeom prst="rect">
            <a:avLst/>
          </a:prstGeom>
        </p:spPr>
      </p:pic>
    </p:spTree>
    <p:extLst>
      <p:ext uri="{BB962C8B-B14F-4D97-AF65-F5344CB8AC3E}">
        <p14:creationId xmlns:p14="http://schemas.microsoft.com/office/powerpoint/2010/main" val="179849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3DAAF-85FD-B16F-1616-C162005103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294894-F840-61CE-8CB0-A59232078662}"/>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53974918-A19F-5134-659D-DEE4CA3F0137}"/>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2FAB820E-5A5D-DED1-075B-013E46258E34}"/>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F9B2A62C-DFE9-550F-A00C-CAA4445FBFA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D9EBFC23-5092-6BEF-DAA0-9A82E60751A6}"/>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46E60435-7B86-4E21-F782-610E2D07AC1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535E1534-C4F3-F618-18AF-6A77EAC71CBA}"/>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919E348C-4B98-1AD4-CE4E-85BE7086B2E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53AD3B76-F782-BA0F-3694-F988C1C0FEE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F159898B-CD3F-79D4-C6E2-9277535467E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C42A4327-807A-4212-A800-3AE21652035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3FA24EF2-DEC7-C0F5-5773-07B49707BDA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72E82211-6032-5B2E-29D6-48A57A94FBB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9FD3F603-94B3-9D90-784C-6E365AFC894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DEF86D03-6D40-434C-9F1C-35187A6C93D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A3BD6C1C-6A08-D219-426F-8F62BC104B8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4374338B-A4F5-76BF-F3D9-3B5D1C7A4F53}"/>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1DB5C669-75AA-8529-2C09-C4A564F946E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04AA727A-2880-0942-ACB4-6DAE36B228F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0948C42E-DBD3-73C3-B8D7-B02AD3A51D3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9943D230-ED43-ACFD-45CE-5421E656E98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6FCE5714-D7FE-0476-DD31-B4A6DD559798}"/>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BC0CC0FF-264E-4D0A-704F-9AAD7505895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D21426CA-9410-BFCB-872F-003F17C6F45C}"/>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107A53AC-ABDC-1EB6-EF95-C11CC92C6637}"/>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8FED01C8-4715-760A-CAE6-7B58FEDF083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B8B74D1D-4F30-E192-0664-E50CEFD714E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48FFCCB5-7D43-40D9-0B17-7C777826A07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FFE1A940-4D77-AF3D-16C7-85976CD9203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3BA321E0-968E-1788-6250-28CDAA259F8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791A9D67-AD7F-0881-73B3-59A591C32CA4}"/>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68726DDC-FBB1-304A-F423-A4DE3D35BB3E}"/>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802700C2-9AE2-F8BB-ABF1-B2BC23E23F3B}"/>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Four ways to attract attention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37B5DC8-E58D-7E1B-5BBF-A3E06C25D5D0}"/>
              </a:ext>
            </a:extLst>
          </p:cNvPr>
          <p:cNvSpPr txBox="1"/>
          <p:nvPr/>
        </p:nvSpPr>
        <p:spPr>
          <a:xfrm>
            <a:off x="1062038" y="2615825"/>
            <a:ext cx="9314995" cy="5438284"/>
          </a:xfrm>
          <a:prstGeom prst="rect">
            <a:avLst/>
          </a:prstGeom>
          <a:noFill/>
        </p:spPr>
        <p:txBody>
          <a:bodyPr wrap="square">
            <a:spAutoFit/>
          </a:bodyPr>
          <a:lstStyle/>
          <a:p>
            <a:pPr algn="just">
              <a:lnSpc>
                <a:spcPct val="200000"/>
              </a:lnSpc>
              <a:spcAft>
                <a:spcPts val="800"/>
              </a:spcAft>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1) Making stimulus personally relevant</a:t>
            </a:r>
          </a:p>
          <a:p>
            <a:pPr algn="just">
              <a:lnSpc>
                <a:spcPct val="200000"/>
              </a:lnSpc>
              <a:spcAft>
                <a:spcPts val="800"/>
              </a:spcAft>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2) Making stimulus pleasant </a:t>
            </a:r>
          </a:p>
          <a:p>
            <a:pPr algn="just">
              <a:lnSpc>
                <a:spcPct val="200000"/>
              </a:lnSpc>
              <a:spcAft>
                <a:spcPts val="800"/>
              </a:spcAft>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3) Making stimulus surprising</a:t>
            </a:r>
          </a:p>
          <a:p>
            <a:pPr algn="just">
              <a:lnSpc>
                <a:spcPct val="200000"/>
              </a:lnSpc>
              <a:spcAft>
                <a:spcPts val="800"/>
              </a:spcAft>
            </a:pPr>
            <a:r>
              <a:rPr lang="en-US" sz="3600" kern="100" dirty="0">
                <a:effectLst/>
                <a:latin typeface="Arial" panose="020B0604020202020204" pitchFamily="34" charset="0"/>
                <a:ea typeface="Calibri" panose="020F0502020204030204" pitchFamily="34" charset="0"/>
                <a:cs typeface="Times New Roman" panose="02020603050405020304" pitchFamily="18" charset="0"/>
              </a:rPr>
              <a:t>4) Making stimulus easy to process </a:t>
            </a:r>
          </a:p>
          <a:p>
            <a:pPr algn="just">
              <a:lnSpc>
                <a:spcPct val="107000"/>
              </a:lnSpc>
              <a:spcAft>
                <a:spcPts val="800"/>
              </a:spcAft>
            </a:pP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2916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5C0E5-8FD0-6234-B7C3-6E2D56D693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D1EE5E-7EC8-CABA-13E0-D952A00CE5D8}"/>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B2E41C4-E17E-7C44-BC8A-3450D6C0BCC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C5A68845-E66D-A102-94B9-26A4396EBBE5}"/>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0DFF58B7-A803-3DAE-3A1C-1381D608FC1B}"/>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107BA3EA-06FF-E595-10EE-DFC35EAB1805}"/>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395CE33-E623-1CEA-3DBD-3520BAB8AFEA}"/>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64028610-7019-69C8-FE2C-7C9ED2B79A03}"/>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D3B13A5-9A8E-EB4C-3B56-EDFDC1EC1BE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A1E4797C-B2CE-CDC6-3513-854B359A2F8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0E76D48E-61A9-E529-29CF-4C204772A015}"/>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8502BA1E-E753-5765-82B2-2AA58F7A96A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BC979EAD-084F-057C-A469-0B3407FE3C1E}"/>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1D4756F3-8F55-30F0-31E3-3C243C9C4BE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9A01229E-CB34-81A7-D418-6D6CB3E6E5B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CCDBA4D0-10B2-6782-1824-CABD8F66DCF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52F74CBA-6E06-CB9B-041C-BC985DF82D0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D1029D8B-5C8E-3336-47D3-FC2834EF20CF}"/>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E447EEF7-5ECE-BF20-2F8C-74CFEAFAB41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34B252B9-7F1C-E4E4-EA2F-7DB68ACBE4F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40194596-152B-E9D7-7D12-1C8FE00FA12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2BC82177-6874-9B8D-CEE5-DC61758CF872}"/>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8EEA5AEF-4C85-B906-8ABF-75E2F4E4BAD0}"/>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65B8442-99D6-048E-8234-9351223D15A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9293815F-ED83-9AEE-072A-6264138FFD3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BD370EAA-FF07-725D-63DB-0CC05F1F93E1}"/>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E82CF3B6-1A3F-261C-6E40-27AFE7C41E1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C9C4B926-2141-21F0-F6EA-78176BFA1E0F}"/>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5339B44F-76F0-2EE8-479E-3B96F0F73EA9}"/>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CB7F72DD-0170-DDDB-FBE7-702EAC359B9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3E64ED58-E8A5-F590-A26A-074BB8FC9BB9}"/>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989BCBAB-ECCA-47C1-BB4E-CADF5EDE3FF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184EE3A9-3A1C-1FCC-8FCF-0388EC5C04BF}"/>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AD12D9BF-B10C-E29B-D21E-24B95B6B4BF6}"/>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ATTENTION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217B1DE-1636-66D7-F9B4-9ABC343A0601}"/>
              </a:ext>
            </a:extLst>
          </p:cNvPr>
          <p:cNvSpPr txBox="1"/>
          <p:nvPr/>
        </p:nvSpPr>
        <p:spPr>
          <a:xfrm>
            <a:off x="882142" y="1650884"/>
            <a:ext cx="16279773" cy="6119304"/>
          </a:xfrm>
          <a:prstGeom prst="rect">
            <a:avLst/>
          </a:prstGeom>
          <a:noFill/>
        </p:spPr>
        <p:txBody>
          <a:bodyPr wrap="square">
            <a:spAutoFit/>
          </a:bodyPr>
          <a:lstStyle/>
          <a:p>
            <a:pPr>
              <a:lnSpc>
                <a:spcPct val="107000"/>
              </a:lnSpc>
              <a:spcAft>
                <a:spcPts val="800"/>
              </a:spcAft>
            </a:pPr>
            <a:r>
              <a:rPr lang="en-US" sz="3600" b="1" dirty="0"/>
              <a:t>a. Prominence: </a:t>
            </a:r>
            <a:r>
              <a:rPr lang="en-US" sz="3600" dirty="0"/>
              <a:t>The intensity of stimuli that causes them to stand out relative to the </a:t>
            </a:r>
          </a:p>
          <a:p>
            <a:pPr>
              <a:lnSpc>
                <a:spcPct val="107000"/>
              </a:lnSpc>
              <a:spcAft>
                <a:spcPts val="800"/>
              </a:spcAft>
            </a:pPr>
            <a:r>
              <a:rPr lang="en-US" sz="3600" dirty="0"/>
              <a:t>environment.</a:t>
            </a:r>
          </a:p>
          <a:p>
            <a:pPr>
              <a:lnSpc>
                <a:spcPct val="107000"/>
              </a:lnSpc>
              <a:spcAft>
                <a:spcPts val="800"/>
              </a:spcAft>
            </a:pPr>
            <a:endParaRPr lang="en-US" sz="3600" dirty="0"/>
          </a:p>
          <a:p>
            <a:pPr>
              <a:lnSpc>
                <a:spcPct val="107000"/>
              </a:lnSpc>
              <a:spcAft>
                <a:spcPts val="800"/>
              </a:spcAft>
            </a:pPr>
            <a:r>
              <a:rPr lang="en-US" sz="3600" b="1" dirty="0"/>
              <a:t>b. Concreteness: </a:t>
            </a:r>
            <a:r>
              <a:rPr lang="en-US" sz="3600" dirty="0"/>
              <a:t>The extent to which a stimulus is capable of being imagined.</a:t>
            </a:r>
          </a:p>
          <a:p>
            <a:pPr>
              <a:lnSpc>
                <a:spcPct val="107000"/>
              </a:lnSpc>
              <a:spcAft>
                <a:spcPts val="800"/>
              </a:spcAft>
            </a:pPr>
            <a:endParaRPr lang="en-US" sz="3600" dirty="0"/>
          </a:p>
          <a:p>
            <a:pPr>
              <a:lnSpc>
                <a:spcPct val="107000"/>
              </a:lnSpc>
              <a:spcAft>
                <a:spcPts val="800"/>
              </a:spcAft>
            </a:pPr>
            <a:r>
              <a:rPr lang="en-US" sz="3600" b="1" dirty="0"/>
              <a:t>C. Habituation: </a:t>
            </a:r>
            <a:r>
              <a:rPr lang="en-US" sz="3600" dirty="0"/>
              <a:t>The process by which a stimulus loses its attention-getting abilities by virtue of its familiarity.</a:t>
            </a:r>
          </a:p>
          <a:p>
            <a:pPr>
              <a:lnSpc>
                <a:spcPct val="107000"/>
              </a:lnSpc>
              <a:spcAft>
                <a:spcPts val="800"/>
              </a:spcAft>
            </a:pPr>
            <a:r>
              <a:rPr lang="en-PH" sz="3600" kern="1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US" sz="3600" dirty="0"/>
          </a:p>
        </p:txBody>
      </p:sp>
      <p:sp>
        <p:nvSpPr>
          <p:cNvPr id="13" name="TextBox 12">
            <a:extLst>
              <a:ext uri="{FF2B5EF4-FFF2-40B4-BE49-F238E27FC236}">
                <a16:creationId xmlns:a16="http://schemas.microsoft.com/office/drawing/2014/main" id="{17618409-CA92-85A4-FF3F-DF90ECA74FA6}"/>
              </a:ext>
            </a:extLst>
          </p:cNvPr>
          <p:cNvSpPr txBox="1"/>
          <p:nvPr/>
        </p:nvSpPr>
        <p:spPr>
          <a:xfrm>
            <a:off x="2181349" y="6505659"/>
            <a:ext cx="14943496" cy="2181879"/>
          </a:xfrm>
          <a:prstGeom prst="rect">
            <a:avLst/>
          </a:prstGeom>
          <a:noFill/>
        </p:spPr>
        <p:txBody>
          <a:bodyPr wrap="square">
            <a:spAutoFit/>
          </a:bodyPr>
          <a:lstStyle/>
          <a:p>
            <a:pPr>
              <a:lnSpc>
                <a:spcPct val="107000"/>
              </a:lnSpc>
              <a:spcAft>
                <a:spcPts val="800"/>
              </a:spcAft>
              <a:tabLst>
                <a:tab pos="1019810" algn="l"/>
              </a:tabLst>
            </a:pPr>
            <a:r>
              <a:rPr lang="en-PH" sz="3200" i="1" kern="100" dirty="0">
                <a:latin typeface="Calibri" panose="020F0502020204030204" pitchFamily="34" charset="0"/>
                <a:ea typeface="Calibri" panose="020F0502020204030204" pitchFamily="34" charset="0"/>
                <a:cs typeface="Times New Roman" panose="02020603050405020304" pitchFamily="18" charset="0"/>
              </a:rPr>
              <a:t>- </a:t>
            </a:r>
            <a:r>
              <a:rPr lang="en-PH" sz="3200" i="1" u="sng" kern="100" dirty="0">
                <a:latin typeface="Calibri" panose="020F0502020204030204" pitchFamily="34" charset="0"/>
                <a:ea typeface="Calibri" panose="020F0502020204030204" pitchFamily="34" charset="0"/>
                <a:cs typeface="Times New Roman" panose="02020603050405020304" pitchFamily="18" charset="0"/>
              </a:rPr>
              <a:t>Grouping:    </a:t>
            </a:r>
            <a:r>
              <a:rPr lang="en-PH" sz="3200" kern="100" dirty="0">
                <a:latin typeface="Calibri" panose="020F0502020204030204" pitchFamily="34" charset="0"/>
                <a:ea typeface="Calibri" panose="020F0502020204030204" pitchFamily="34" charset="0"/>
                <a:cs typeface="Times New Roman" panose="02020603050405020304" pitchFamily="18" charset="0"/>
              </a:rPr>
              <a:t>The tendency to group stimuli to form a unified picture of impression </a:t>
            </a:r>
          </a:p>
          <a:p>
            <a:pPr>
              <a:lnSpc>
                <a:spcPct val="107000"/>
              </a:lnSpc>
              <a:spcAft>
                <a:spcPts val="800"/>
              </a:spcAft>
              <a:tabLst>
                <a:tab pos="1019810" algn="l"/>
              </a:tabLst>
            </a:pPr>
            <a:r>
              <a:rPr lang="en-PH" sz="3000" i="1" kern="100" dirty="0">
                <a:effectLst/>
                <a:latin typeface="Calibri" panose="020F0502020204030204" pitchFamily="34" charset="0"/>
                <a:ea typeface="Calibri" panose="020F0502020204030204" pitchFamily="34" charset="0"/>
                <a:cs typeface="Times New Roman" panose="02020603050405020304" pitchFamily="18" charset="0"/>
              </a:rPr>
              <a:t>- </a:t>
            </a:r>
            <a:r>
              <a:rPr lang="en-PH" sz="3000" i="1" u="sng" kern="100" dirty="0">
                <a:effectLst/>
                <a:latin typeface="Calibri" panose="020F0502020204030204" pitchFamily="34" charset="0"/>
                <a:ea typeface="Calibri" panose="020F0502020204030204" pitchFamily="34" charset="0"/>
                <a:cs typeface="Times New Roman" panose="02020603050405020304" pitchFamily="18" charset="0"/>
              </a:rPr>
              <a:t>Preference for the whole:    </a:t>
            </a:r>
            <a:r>
              <a:rPr lang="en-PH" sz="3000" kern="100" dirty="0">
                <a:effectLst/>
                <a:latin typeface="Calibri" panose="020F0502020204030204" pitchFamily="34" charset="0"/>
                <a:ea typeface="Calibri" panose="020F0502020204030204" pitchFamily="34" charset="0"/>
                <a:cs typeface="Times New Roman" panose="02020603050405020304" pitchFamily="18" charset="0"/>
              </a:rPr>
              <a:t>The tendency to perceive more value in a whole than in the combined parts that make up a whole, even if the parts have the same objective value as the whole. </a:t>
            </a:r>
          </a:p>
        </p:txBody>
      </p:sp>
    </p:spTree>
    <p:extLst>
      <p:ext uri="{BB962C8B-B14F-4D97-AF65-F5344CB8AC3E}">
        <p14:creationId xmlns:p14="http://schemas.microsoft.com/office/powerpoint/2010/main" val="134620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A12F-553F-AA42-BEC3-B44E93C5C4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A3149B-8057-3E7F-5214-109E584D6CD7}"/>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8C72DA35-C984-31C0-8A00-1FFB41DE8C20}"/>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D7DB005F-4347-7977-7BAA-203D4865CB10}"/>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6FA4643F-1A9D-5835-1EAC-B415B4671FC8}"/>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DF341E4C-6270-293F-02DA-8E670957B5A5}"/>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1A80D546-72D1-DFB0-E61A-82E9FFE765D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D2C2DA93-C9F1-B28D-69F5-EF95B0F97854}"/>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5A71FD9-FDC1-A095-6CE2-37B1504C772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BB1F3ADF-5B56-5DD6-09D9-62983368316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DB08CC5A-42ED-336F-6CD3-784B9FD17EC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9A1F9933-91BC-F585-AC57-F2F1D7DF1EB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B5A26B00-88C1-BCBB-D3D9-C955DD5A80CD}"/>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FC8E662B-1B66-1B03-3F92-CCBD8CBEF831}"/>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2310ADD1-EB59-1028-706D-25D965AF7196}"/>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C211020B-A82C-9BED-F250-4E2D90C550D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F63EB3D6-F8D9-7A9B-71DC-04A3A296A7A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2A82ABD2-346B-3CAC-169F-C9E6B483A11A}"/>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B7D9ACA9-034D-2AD7-43D3-0778C68B1CAE}"/>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4F251CCB-D684-27B7-1D79-6A5B10F114E1}"/>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EDA5DC13-AE67-0F18-95D8-B45048B03D3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53DA9A61-4CED-C26B-AB9F-6BBA99D2A33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2E202446-8CA8-8B45-0527-8B49551CC5B5}"/>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94D2751C-216C-3BA6-695F-9E6A3D26C7D3}"/>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4F95D4D2-8562-4476-01EA-FD0346C4FB34}"/>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B6D02F3C-C55A-1EC1-842F-264AC05BB33B}"/>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B7B507B9-E3BA-C131-0C49-FD7F6649A965}"/>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84C1D5C7-EAB8-01A7-D631-DDD6D8DE816B}"/>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EF94718C-AC3C-4DF0-B3DA-F1DF273DE216}"/>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97B5729C-B88A-F6A5-B215-7421AE3B655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E1D9D0AB-3DB8-AAAA-CDA3-295F3BC40606}"/>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7CE78F50-E5E7-088A-B8A9-EAECA12CD77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00320E43-5B18-14B5-5F9F-6DE761B8E089}"/>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F88E6CCF-354E-1309-A860-D280F2DCF012}"/>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COMPREHENSION AND BEHAVIOR</a:t>
            </a:r>
          </a:p>
        </p:txBody>
      </p:sp>
      <p:sp>
        <p:nvSpPr>
          <p:cNvPr id="11" name="TextBox 10">
            <a:extLst>
              <a:ext uri="{FF2B5EF4-FFF2-40B4-BE49-F238E27FC236}">
                <a16:creationId xmlns:a16="http://schemas.microsoft.com/office/drawing/2014/main" id="{BA57EE87-A99F-F8FA-7813-0BCF62771F65}"/>
              </a:ext>
            </a:extLst>
          </p:cNvPr>
          <p:cNvSpPr txBox="1"/>
          <p:nvPr/>
        </p:nvSpPr>
        <p:spPr>
          <a:xfrm>
            <a:off x="340523" y="4266934"/>
            <a:ext cx="10583669" cy="4033155"/>
          </a:xfrm>
          <a:prstGeom prst="rect">
            <a:avLst/>
          </a:prstGeom>
          <a:noFill/>
        </p:spPr>
        <p:txBody>
          <a:bodyPr wrap="square">
            <a:spAutoFit/>
          </a:bodyPr>
          <a:lstStyle/>
          <a:p>
            <a:pPr algn="just">
              <a:lnSpc>
                <a:spcPct val="107000"/>
              </a:lnSpc>
              <a:spcAft>
                <a:spcPts val="800"/>
              </a:spcAft>
            </a:pPr>
            <a:r>
              <a:rPr lang="en-US" sz="3200" b="1" dirty="0"/>
              <a:t>	</a:t>
            </a:r>
            <a:r>
              <a:rPr lang="en-US" sz="3600" b="1" dirty="0"/>
              <a:t>Comprehension </a:t>
            </a:r>
            <a:r>
              <a:rPr lang="en-US" sz="3600" dirty="0"/>
              <a:t>is the process of extracting higher-order meaning from what we have perceived in </a:t>
            </a:r>
          </a:p>
          <a:p>
            <a:pPr algn="just">
              <a:lnSpc>
                <a:spcPct val="107000"/>
              </a:lnSpc>
              <a:spcAft>
                <a:spcPts val="800"/>
              </a:spcAft>
            </a:pPr>
            <a:r>
              <a:rPr lang="en-US" sz="3600" dirty="0"/>
              <a:t>the context of what we already know.</a:t>
            </a:r>
          </a:p>
          <a:p>
            <a:pPr algn="just">
              <a:lnSpc>
                <a:spcPct val="107000"/>
              </a:lnSpc>
              <a:spcAft>
                <a:spcPts val="800"/>
              </a:spcAft>
            </a:pPr>
            <a:endParaRPr lang="en-US" sz="3600" dirty="0"/>
          </a:p>
          <a:p>
            <a:pPr algn="just">
              <a:lnSpc>
                <a:spcPct val="107000"/>
              </a:lnSpc>
              <a:spcAft>
                <a:spcPts val="800"/>
              </a:spcAft>
            </a:pPr>
            <a:endParaRPr lang="en-US" sz="3600" dirty="0"/>
          </a:p>
          <a:p>
            <a:pPr algn="just">
              <a:lnSpc>
                <a:spcPct val="107000"/>
              </a:lnSpc>
              <a:spcAft>
                <a:spcPts val="800"/>
              </a:spcAft>
            </a:pPr>
            <a:r>
              <a:rPr lang="en-US" sz="3600" dirty="0"/>
              <a:t>	</a:t>
            </a:r>
            <a:endParaRPr lang="en-PH"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4D3A2C53-0F1F-FCAD-8972-FECF0AF3F6DC}"/>
              </a:ext>
            </a:extLst>
          </p:cNvPr>
          <p:cNvPicPr>
            <a:picLocks noChangeAspect="1"/>
          </p:cNvPicPr>
          <p:nvPr/>
        </p:nvPicPr>
        <p:blipFill>
          <a:blip r:embed="rId7"/>
          <a:stretch>
            <a:fillRect/>
          </a:stretch>
        </p:blipFill>
        <p:spPr>
          <a:xfrm>
            <a:off x="12033442" y="2324100"/>
            <a:ext cx="6254558" cy="6254558"/>
          </a:xfrm>
          <a:prstGeom prst="rect">
            <a:avLst/>
          </a:prstGeom>
        </p:spPr>
      </p:pic>
    </p:spTree>
    <p:extLst>
      <p:ext uri="{BB962C8B-B14F-4D97-AF65-F5344CB8AC3E}">
        <p14:creationId xmlns:p14="http://schemas.microsoft.com/office/powerpoint/2010/main" val="129586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8068-F3DC-23EB-B15A-B6393D4C490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E054A9-E968-DC91-85F1-4077E88EAF6C}"/>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A80AA7FE-EC84-4578-3C35-948F2430BD18}"/>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CEAE264A-18C5-10C3-2B35-6AC0BB4B5CD4}"/>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E89FE1E9-1D6E-7EA5-6954-8DC373DD1C50}"/>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118DD3ED-F495-B302-4267-18B056489D11}"/>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A5FCA63-DF0D-3E12-6DF0-74115FB3FA40}"/>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9CD9A0C5-D062-D4C7-6691-51A11BCBDA22}"/>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FF3AB756-494F-4C49-36B4-584C1041487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16" name="Freeform 32">
              <a:extLst>
                <a:ext uri="{FF2B5EF4-FFF2-40B4-BE49-F238E27FC236}">
                  <a16:creationId xmlns:a16="http://schemas.microsoft.com/office/drawing/2014/main" id="{0A1CD468-D4AA-4B70-2B14-C248F1A7B79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17" name="Freeform 33">
              <a:extLst>
                <a:ext uri="{FF2B5EF4-FFF2-40B4-BE49-F238E27FC236}">
                  <a16:creationId xmlns:a16="http://schemas.microsoft.com/office/drawing/2014/main" id="{6777F7AA-A3F9-E798-7BD6-FE853D6D06A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18" name="Freeform 34">
              <a:extLst>
                <a:ext uri="{FF2B5EF4-FFF2-40B4-BE49-F238E27FC236}">
                  <a16:creationId xmlns:a16="http://schemas.microsoft.com/office/drawing/2014/main" id="{F5C4161E-ADDC-806F-5C09-8366484F0268}"/>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19" name="Group 30">
            <a:extLst>
              <a:ext uri="{FF2B5EF4-FFF2-40B4-BE49-F238E27FC236}">
                <a16:creationId xmlns:a16="http://schemas.microsoft.com/office/drawing/2014/main" id="{1752B685-590D-9987-D29A-0DEA589EB419}"/>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35D3B202-50C0-9AF9-2ED4-E48CD268162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1" name="Freeform 32">
              <a:extLst>
                <a:ext uri="{FF2B5EF4-FFF2-40B4-BE49-F238E27FC236}">
                  <a16:creationId xmlns:a16="http://schemas.microsoft.com/office/drawing/2014/main" id="{88E2F924-7351-4BC3-EC51-C7C87E7769CB}"/>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2" name="Freeform 33">
              <a:extLst>
                <a:ext uri="{FF2B5EF4-FFF2-40B4-BE49-F238E27FC236}">
                  <a16:creationId xmlns:a16="http://schemas.microsoft.com/office/drawing/2014/main" id="{040D9E08-9EEA-03BB-0089-51EA27721D2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3" name="Freeform 34">
              <a:extLst>
                <a:ext uri="{FF2B5EF4-FFF2-40B4-BE49-F238E27FC236}">
                  <a16:creationId xmlns:a16="http://schemas.microsoft.com/office/drawing/2014/main" id="{305A83E8-82D7-8AE3-7A96-A1E6E2B9616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4" name="Group 30">
            <a:extLst>
              <a:ext uri="{FF2B5EF4-FFF2-40B4-BE49-F238E27FC236}">
                <a16:creationId xmlns:a16="http://schemas.microsoft.com/office/drawing/2014/main" id="{1D737BE7-0DF7-25AB-B83D-2EA6874A1181}"/>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B6AA54A7-A6DE-1EDF-355B-4E440AA6CA5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26" name="Freeform 32">
              <a:extLst>
                <a:ext uri="{FF2B5EF4-FFF2-40B4-BE49-F238E27FC236}">
                  <a16:creationId xmlns:a16="http://schemas.microsoft.com/office/drawing/2014/main" id="{C8271A6E-D130-FA73-3C8B-6AF28FE2BCC9}"/>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27" name="Freeform 33">
              <a:extLst>
                <a:ext uri="{FF2B5EF4-FFF2-40B4-BE49-F238E27FC236}">
                  <a16:creationId xmlns:a16="http://schemas.microsoft.com/office/drawing/2014/main" id="{DF368CF8-EC92-ECD8-13C2-A96A2E12536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28" name="Freeform 34">
              <a:extLst>
                <a:ext uri="{FF2B5EF4-FFF2-40B4-BE49-F238E27FC236}">
                  <a16:creationId xmlns:a16="http://schemas.microsoft.com/office/drawing/2014/main" id="{53F11774-E4F8-4A9D-E35D-20902112B9ED}"/>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29" name="Group 30">
            <a:extLst>
              <a:ext uri="{FF2B5EF4-FFF2-40B4-BE49-F238E27FC236}">
                <a16:creationId xmlns:a16="http://schemas.microsoft.com/office/drawing/2014/main" id="{102BCE8D-F1FC-B379-841A-0A968570449B}"/>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8F7BB030-A544-7E70-6822-8A508E7D90AB}"/>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1" name="Freeform 32">
              <a:extLst>
                <a:ext uri="{FF2B5EF4-FFF2-40B4-BE49-F238E27FC236}">
                  <a16:creationId xmlns:a16="http://schemas.microsoft.com/office/drawing/2014/main" id="{C6380C20-D1BC-ACD7-FC6F-FC52DADC5ED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2" name="Freeform 33">
              <a:extLst>
                <a:ext uri="{FF2B5EF4-FFF2-40B4-BE49-F238E27FC236}">
                  <a16:creationId xmlns:a16="http://schemas.microsoft.com/office/drawing/2014/main" id="{7C73A0F5-A00C-DC36-0493-7C156E9EBF5D}"/>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3" name="Freeform 34">
              <a:extLst>
                <a:ext uri="{FF2B5EF4-FFF2-40B4-BE49-F238E27FC236}">
                  <a16:creationId xmlns:a16="http://schemas.microsoft.com/office/drawing/2014/main" id="{7A2ED093-BA76-3E11-7E76-CF29D5FF297F}"/>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grpSp>
        <p:nvGrpSpPr>
          <p:cNvPr id="34" name="Group 30">
            <a:extLst>
              <a:ext uri="{FF2B5EF4-FFF2-40B4-BE49-F238E27FC236}">
                <a16:creationId xmlns:a16="http://schemas.microsoft.com/office/drawing/2014/main" id="{E3555CFE-3F30-F9A9-E51B-30EADD1F8521}"/>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B792E0CC-2DE8-6E25-BBD7-C890F3790ED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3"/>
              <a:stretch>
                <a:fillRect b="-39747"/>
              </a:stretch>
            </a:blipFill>
          </p:spPr>
        </p:sp>
        <p:sp>
          <p:nvSpPr>
            <p:cNvPr id="36" name="Freeform 32">
              <a:extLst>
                <a:ext uri="{FF2B5EF4-FFF2-40B4-BE49-F238E27FC236}">
                  <a16:creationId xmlns:a16="http://schemas.microsoft.com/office/drawing/2014/main" id="{E95981BA-2C30-84D5-8039-130C02EDD48E}"/>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4"/>
              <a:stretch>
                <a:fillRect/>
              </a:stretch>
            </a:blipFill>
          </p:spPr>
        </p:sp>
        <p:sp>
          <p:nvSpPr>
            <p:cNvPr id="37" name="Freeform 33">
              <a:extLst>
                <a:ext uri="{FF2B5EF4-FFF2-40B4-BE49-F238E27FC236}">
                  <a16:creationId xmlns:a16="http://schemas.microsoft.com/office/drawing/2014/main" id="{3EB42DBD-AE01-2F4B-C1DB-6F873A7335DC}"/>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5"/>
              <a:stretch>
                <a:fillRect/>
              </a:stretch>
            </a:blipFill>
          </p:spPr>
        </p:sp>
        <p:sp>
          <p:nvSpPr>
            <p:cNvPr id="38" name="Freeform 34">
              <a:extLst>
                <a:ext uri="{FF2B5EF4-FFF2-40B4-BE49-F238E27FC236}">
                  <a16:creationId xmlns:a16="http://schemas.microsoft.com/office/drawing/2014/main" id="{5E4938F6-96F1-9B05-2A40-140CA0A9823C}"/>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6"/>
              <a:stretch>
                <a:fillRect/>
              </a:stretch>
            </a:blipFill>
          </p:spPr>
        </p:sp>
      </p:grpSp>
      <p:sp>
        <p:nvSpPr>
          <p:cNvPr id="8" name="Freeform 17">
            <a:extLst>
              <a:ext uri="{FF2B5EF4-FFF2-40B4-BE49-F238E27FC236}">
                <a16:creationId xmlns:a16="http://schemas.microsoft.com/office/drawing/2014/main" id="{352DE2AF-D914-A013-F3B9-DE3745694567}"/>
              </a:ext>
            </a:extLst>
          </p:cNvPr>
          <p:cNvSpPr/>
          <p:nvPr/>
        </p:nvSpPr>
        <p:spPr>
          <a:xfrm>
            <a:off x="326130" y="521285"/>
            <a:ext cx="9351270" cy="1529042"/>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sp>
      <p:sp>
        <p:nvSpPr>
          <p:cNvPr id="9" name="TextBox 18">
            <a:extLst>
              <a:ext uri="{FF2B5EF4-FFF2-40B4-BE49-F238E27FC236}">
                <a16:creationId xmlns:a16="http://schemas.microsoft.com/office/drawing/2014/main" id="{86F83C3F-C449-9173-12A4-BF669EF39A2A}"/>
              </a:ext>
            </a:extLst>
          </p:cNvPr>
          <p:cNvSpPr txBox="1"/>
          <p:nvPr/>
        </p:nvSpPr>
        <p:spPr>
          <a:xfrm>
            <a:off x="533400" y="647700"/>
            <a:ext cx="8801057" cy="1160626"/>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cs typeface="Arial" panose="020B0604020202020204" pitchFamily="34" charset="0"/>
              </a:rPr>
              <a:t>COMPREHENSION</a:t>
            </a:r>
          </a:p>
        </p:txBody>
      </p:sp>
      <p:sp>
        <p:nvSpPr>
          <p:cNvPr id="11" name="TextBox 10">
            <a:extLst>
              <a:ext uri="{FF2B5EF4-FFF2-40B4-BE49-F238E27FC236}">
                <a16:creationId xmlns:a16="http://schemas.microsoft.com/office/drawing/2014/main" id="{84412361-7E61-6C75-4E24-54E4428DFCCB}"/>
              </a:ext>
            </a:extLst>
          </p:cNvPr>
          <p:cNvSpPr txBox="1"/>
          <p:nvPr/>
        </p:nvSpPr>
        <p:spPr>
          <a:xfrm>
            <a:off x="312932" y="2369407"/>
            <a:ext cx="17264594" cy="6586162"/>
          </a:xfrm>
          <a:prstGeom prst="rect">
            <a:avLst/>
          </a:prstGeom>
          <a:noFill/>
        </p:spPr>
        <p:txBody>
          <a:bodyPr wrap="square">
            <a:spAutoFit/>
          </a:bodyPr>
          <a:lstStyle/>
          <a:p>
            <a:pPr algn="just">
              <a:lnSpc>
                <a:spcPct val="107000"/>
              </a:lnSpc>
              <a:spcAft>
                <a:spcPts val="800"/>
              </a:spcAft>
            </a:pPr>
            <a:endParaRPr lang="en-US" sz="3600" dirty="0"/>
          </a:p>
          <a:p>
            <a:pPr algn="just">
              <a:lnSpc>
                <a:spcPct val="107000"/>
              </a:lnSpc>
              <a:spcAft>
                <a:spcPts val="800"/>
              </a:spcAft>
            </a:pPr>
            <a:r>
              <a:rPr lang="en-US" sz="3600" b="1" dirty="0"/>
              <a:t>Source identification </a:t>
            </a:r>
            <a:r>
              <a:rPr lang="en-US" sz="3600" dirty="0"/>
              <a:t>is the process of determining what the perceived stimulus actually is, that is what category it belongs to. </a:t>
            </a:r>
          </a:p>
          <a:p>
            <a:pPr algn="just">
              <a:lnSpc>
                <a:spcPct val="107000"/>
              </a:lnSpc>
              <a:spcAft>
                <a:spcPts val="800"/>
              </a:spcAft>
            </a:pPr>
            <a:endParaRPr lang="en-US" sz="3600" dirty="0"/>
          </a:p>
          <a:p>
            <a:pPr algn="just">
              <a:lnSpc>
                <a:spcPct val="107000"/>
              </a:lnSpc>
              <a:spcAft>
                <a:spcPts val="800"/>
              </a:spcAft>
            </a:pPr>
            <a:r>
              <a:rPr lang="en-US" sz="3600" b="1" dirty="0"/>
              <a:t>Message comprehension : Is influenced by: </a:t>
            </a:r>
          </a:p>
          <a:p>
            <a:pPr algn="just">
              <a:lnSpc>
                <a:spcPct val="107000"/>
              </a:lnSpc>
              <a:spcAft>
                <a:spcPts val="800"/>
              </a:spcAft>
            </a:pPr>
            <a:r>
              <a:rPr lang="en-US" sz="3600" b="1" dirty="0"/>
              <a:t>- </a:t>
            </a:r>
            <a:r>
              <a:rPr lang="en-US" sz="3600" dirty="0"/>
              <a:t>Objective  and subjective comprehension </a:t>
            </a:r>
            <a:r>
              <a:rPr lang="en-US" sz="2800" dirty="0"/>
              <a:t>- </a:t>
            </a:r>
            <a:r>
              <a:rPr lang="en-US" sz="2800" dirty="0">
                <a:solidFill>
                  <a:srgbClr val="FF0000"/>
                </a:solidFill>
              </a:rPr>
              <a:t>(matches the sender’s idea) (based on his own feelings-bias)</a:t>
            </a:r>
          </a:p>
          <a:p>
            <a:pPr algn="just">
              <a:lnSpc>
                <a:spcPct val="107000"/>
              </a:lnSpc>
              <a:spcAft>
                <a:spcPts val="800"/>
              </a:spcAft>
            </a:pPr>
            <a:r>
              <a:rPr lang="en-US" sz="3600" dirty="0"/>
              <a:t>- Miscomprehension  </a:t>
            </a:r>
            <a:r>
              <a:rPr lang="en-US" sz="2800" dirty="0">
                <a:solidFill>
                  <a:srgbClr val="FF0000"/>
                </a:solidFill>
              </a:rPr>
              <a:t>(wrong idea based on lack of understanding) – ex. </a:t>
            </a:r>
            <a:r>
              <a:rPr lang="en-US" sz="2800" dirty="0" err="1">
                <a:solidFill>
                  <a:srgbClr val="FF0000"/>
                </a:solidFill>
              </a:rPr>
              <a:t>Shoppee</a:t>
            </a:r>
            <a:r>
              <a:rPr lang="en-US" sz="2800" dirty="0">
                <a:solidFill>
                  <a:srgbClr val="FF0000"/>
                </a:solidFill>
              </a:rPr>
              <a:t> keratin</a:t>
            </a:r>
          </a:p>
          <a:p>
            <a:pPr algn="just">
              <a:lnSpc>
                <a:spcPct val="107000"/>
              </a:lnSpc>
              <a:spcAft>
                <a:spcPts val="800"/>
              </a:spcAft>
            </a:pPr>
            <a:r>
              <a:rPr lang="en-US" sz="3600" dirty="0"/>
              <a:t>- Effect of MAO (Motivation, Ability, and Opportunity) - </a:t>
            </a:r>
          </a:p>
          <a:p>
            <a:pPr algn="just">
              <a:lnSpc>
                <a:spcPct val="107000"/>
              </a:lnSpc>
              <a:spcAft>
                <a:spcPts val="800"/>
              </a:spcAft>
            </a:pPr>
            <a:r>
              <a:rPr lang="en-US" sz="3600" dirty="0"/>
              <a:t>- Effect of culture (</a:t>
            </a:r>
            <a:r>
              <a:rPr lang="en-US" sz="3600" dirty="0">
                <a:solidFill>
                  <a:srgbClr val="FF0000"/>
                </a:solidFill>
              </a:rPr>
              <a:t>c</a:t>
            </a:r>
            <a:r>
              <a:rPr lang="en-US" sz="2800" dirty="0">
                <a:solidFill>
                  <a:srgbClr val="FF0000"/>
                </a:solidFill>
              </a:rPr>
              <a:t>ultural context also influences the use of figurative language, such as idioms or irony, which can lead to miscomprehension if not understood)</a:t>
            </a:r>
            <a:endParaRPr lang="en-US" sz="3600" dirty="0">
              <a:solidFill>
                <a:srgbClr val="FF0000"/>
              </a:solidFill>
            </a:endParaRPr>
          </a:p>
        </p:txBody>
      </p:sp>
    </p:spTree>
    <p:extLst>
      <p:ext uri="{BB962C8B-B14F-4D97-AF65-F5344CB8AC3E}">
        <p14:creationId xmlns:p14="http://schemas.microsoft.com/office/powerpoint/2010/main" val="2742418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0E5D-1076-D645-426A-99629DC7FB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72909B-DC5F-9B0F-9E0F-17AF64E691E7}"/>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D4FC9FA4-A957-B392-060E-FD73585B9963}"/>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1DA84CBC-E4BF-FFF6-F48B-F1A14018004D}"/>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78940699-7931-94A0-27F9-D4FBB8144992}"/>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F338DB94-AF37-E195-9A89-037FEC9C9960}"/>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E543BBC9-2652-256A-5A19-503FFC0D9BE9}"/>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B8CD1636-54E4-BD07-B8C2-E8B9356A317D}"/>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CF4FB9A6-8A53-C824-1B69-31303F92A71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8F543780-D708-A700-ECB8-AC2BA5293FB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74281CEA-1219-0642-50F7-CA74E01C25A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F41EA19C-9F36-DD9A-2082-81DE7D8704F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7C42B8B8-3F0F-FFBA-0287-544EF927A381}"/>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CABC3FDA-FC42-607D-3CFC-8AE960CA6D7D}"/>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FDA9C0E0-9F35-DB9D-7BAE-51F731578800}"/>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F2C5D640-C07F-3C37-B2DF-DBA13F55568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A82E6319-E883-12A3-E63D-475076DCC54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34EA2C53-16C8-6D7F-0AE9-46195304D18D}"/>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A51A5218-3C6A-BA52-8A3C-FD1D014AA59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DC166C31-FF3D-8B38-A29C-4C84EC069263}"/>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C156B411-FB24-1952-866E-D8A14D924BA3}"/>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63855FB0-FAC7-EFA7-C76B-9D45959B5D71}"/>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AB7E6ABF-DCA0-AC33-D6AD-CEC6CA2A945A}"/>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6D9010DA-0840-8EB8-FF34-F0B51A4F4E64}"/>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E417666D-D4AD-938F-2E2D-E2A06177C7CD}"/>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B0B4C672-5904-1BB6-4CFD-242EE91167A4}"/>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8F25A2EE-D8D2-2922-54B5-FB27E750F387}"/>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ACACD392-3EB5-E3FE-DAF7-951B3D04A4AB}"/>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31261952-5938-27B2-1335-F62ACBA86CD5}"/>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B8E9D60A-93EF-C505-CC80-1D0A61D5F08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DABA1EA7-B6FE-97DB-0B5B-53C18179342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6C54BA41-6A01-D95F-D457-540B83BF2790}"/>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sp>
        <p:nvSpPr>
          <p:cNvPr id="8" name="Freeform 17">
            <a:extLst>
              <a:ext uri="{FF2B5EF4-FFF2-40B4-BE49-F238E27FC236}">
                <a16:creationId xmlns:a16="http://schemas.microsoft.com/office/drawing/2014/main" id="{AC5DAF59-91AC-7F83-6DB0-BEDFB1A7F6C3}"/>
              </a:ext>
            </a:extLst>
          </p:cNvPr>
          <p:cNvSpPr/>
          <p:nvPr/>
        </p:nvSpPr>
        <p:spPr>
          <a:xfrm>
            <a:off x="326130" y="521285"/>
            <a:ext cx="9122670" cy="891767"/>
          </a:xfrm>
          <a:custGeom>
            <a:avLst/>
            <a:gdLst/>
            <a:ahLst/>
            <a:cxnLst/>
            <a:rect l="l" t="t" r="r" b="b"/>
            <a:pathLst>
              <a:path w="3432585" h="571910">
                <a:moveTo>
                  <a:pt x="30295" y="0"/>
                </a:moveTo>
                <a:lnTo>
                  <a:pt x="3402290" y="0"/>
                </a:lnTo>
                <a:cubicBezTo>
                  <a:pt x="3410325" y="0"/>
                  <a:pt x="3418031" y="3192"/>
                  <a:pt x="3423712" y="8873"/>
                </a:cubicBezTo>
                <a:cubicBezTo>
                  <a:pt x="3429393" y="14555"/>
                  <a:pt x="3432585" y="22260"/>
                  <a:pt x="3432585" y="30295"/>
                </a:cubicBezTo>
                <a:lnTo>
                  <a:pt x="3432585" y="541615"/>
                </a:lnTo>
                <a:cubicBezTo>
                  <a:pt x="3432585" y="558347"/>
                  <a:pt x="3419022" y="571910"/>
                  <a:pt x="3402290" y="571910"/>
                </a:cubicBezTo>
                <a:lnTo>
                  <a:pt x="30295" y="571910"/>
                </a:lnTo>
                <a:cubicBezTo>
                  <a:pt x="22260" y="571910"/>
                  <a:pt x="14555" y="568719"/>
                  <a:pt x="8873" y="563037"/>
                </a:cubicBezTo>
                <a:cubicBezTo>
                  <a:pt x="3192" y="557356"/>
                  <a:pt x="0" y="549650"/>
                  <a:pt x="0" y="541615"/>
                </a:cubicBezTo>
                <a:lnTo>
                  <a:pt x="0" y="30295"/>
                </a:lnTo>
                <a:cubicBezTo>
                  <a:pt x="0" y="22260"/>
                  <a:pt x="3192" y="14555"/>
                  <a:pt x="8873" y="8873"/>
                </a:cubicBezTo>
                <a:cubicBezTo>
                  <a:pt x="14555" y="3192"/>
                  <a:pt x="22260" y="0"/>
                  <a:pt x="30295" y="0"/>
                </a:cubicBezTo>
                <a:close/>
              </a:path>
            </a:pathLst>
          </a:custGeom>
          <a:solidFill>
            <a:schemeClr val="accent6">
              <a:lumMod val="75000"/>
            </a:schemeClr>
          </a:solidFill>
          <a:ln w="66675" cap="rnd">
            <a:solidFill>
              <a:schemeClr val="accent6">
                <a:lumMod val="75000"/>
              </a:schemeClr>
            </a:solidFill>
            <a:prstDash val="solid"/>
            <a:round/>
          </a:ln>
        </p:spPr>
        <p:txBody>
          <a:bodyPr/>
          <a:lstStyle/>
          <a:p>
            <a:endParaRPr lang="en-PH" dirty="0"/>
          </a:p>
        </p:txBody>
      </p:sp>
      <p:sp>
        <p:nvSpPr>
          <p:cNvPr id="9" name="TextBox 18">
            <a:extLst>
              <a:ext uri="{FF2B5EF4-FFF2-40B4-BE49-F238E27FC236}">
                <a16:creationId xmlns:a16="http://schemas.microsoft.com/office/drawing/2014/main" id="{470E4B1B-8B3B-1F28-AA05-1849F38A63A6}"/>
              </a:ext>
            </a:extLst>
          </p:cNvPr>
          <p:cNvSpPr txBox="1"/>
          <p:nvPr/>
        </p:nvSpPr>
        <p:spPr>
          <a:xfrm>
            <a:off x="533400" y="647700"/>
            <a:ext cx="8610599" cy="609600"/>
          </a:xfrm>
          <a:prstGeom prst="rect">
            <a:avLst/>
          </a:prstGeom>
          <a:solidFill>
            <a:srgbClr val="FFC000"/>
          </a:solidFill>
          <a:ln>
            <a:solidFill>
              <a:srgbClr val="FFC000"/>
            </a:solidFill>
          </a:ln>
        </p:spPr>
        <p:txBody>
          <a:bodyPr lIns="50800" tIns="50800" rIns="50800" bIns="50800" rtlCol="0" anchor="ctr"/>
          <a:lstStyle/>
          <a:p>
            <a:pPr algn="ctr"/>
            <a:r>
              <a:rPr lang="en-US" sz="3600" b="1" dirty="0">
                <a:latin typeface="Arial" panose="020B0604020202020204" pitchFamily="34" charset="0"/>
                <a:ea typeface="Calibri" panose="020F0502020204030204" pitchFamily="34" charset="0"/>
                <a:cs typeface="Arial" panose="020B0604020202020204" pitchFamily="34" charset="0"/>
              </a:rPr>
              <a:t>COMPREHENSION</a:t>
            </a:r>
            <a:endParaRPr lang="en-US" sz="88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0CB46A2-3361-70EC-5124-21235F3580D6}"/>
              </a:ext>
            </a:extLst>
          </p:cNvPr>
          <p:cNvSpPr txBox="1"/>
          <p:nvPr/>
        </p:nvSpPr>
        <p:spPr>
          <a:xfrm>
            <a:off x="638015" y="2049986"/>
            <a:ext cx="17169610" cy="7183761"/>
          </a:xfrm>
          <a:prstGeom prst="rect">
            <a:avLst/>
          </a:prstGeom>
          <a:noFill/>
        </p:spPr>
        <p:txBody>
          <a:bodyPr wrap="square">
            <a:spAutoFit/>
          </a:bodyPr>
          <a:lstStyle/>
          <a:p>
            <a:pPr algn="just">
              <a:lnSpc>
                <a:spcPct val="107000"/>
              </a:lnSpc>
              <a:spcAft>
                <a:spcPts val="800"/>
              </a:spcAft>
            </a:pPr>
            <a:r>
              <a:rPr lang="en-US" sz="3200" b="1" kern="100" dirty="0">
                <a:effectLst/>
                <a:latin typeface="Arial" panose="020B0604020202020204" pitchFamily="34" charset="0"/>
                <a:ea typeface="Calibri" panose="020F0502020204030204" pitchFamily="34" charset="0"/>
                <a:cs typeface="Times New Roman" panose="02020603050405020304" pitchFamily="18" charset="0"/>
              </a:rPr>
              <a:t>Consumer Interference </a:t>
            </a:r>
            <a:r>
              <a:rPr lang="en-US" sz="3200" kern="100" dirty="0">
                <a:latin typeface="Arial" panose="020B0604020202020204" pitchFamily="34" charset="0"/>
                <a:ea typeface="Calibri" panose="020F0502020204030204" pitchFamily="34" charset="0"/>
                <a:cs typeface="Times New Roman" panose="02020603050405020304" pitchFamily="18" charset="0"/>
              </a:rPr>
              <a:t>is </a:t>
            </a:r>
            <a:r>
              <a:rPr lang="en-US" sz="3200" kern="100" dirty="0">
                <a:effectLst/>
                <a:latin typeface="Arial" panose="020B0604020202020204" pitchFamily="34" charset="0"/>
                <a:ea typeface="Calibri" panose="020F0502020204030204" pitchFamily="34" charset="0"/>
                <a:cs typeface="Times New Roman" panose="02020603050405020304" pitchFamily="18" charset="0"/>
              </a:rPr>
              <a:t>the conclusions that consumers draw or interpretations that they form based on the message.</a:t>
            </a:r>
          </a:p>
          <a:p>
            <a:pPr algn="just">
              <a:lnSpc>
                <a:spcPct val="107000"/>
              </a:lnSpc>
              <a:spcAft>
                <a:spcPts val="800"/>
              </a:spcAft>
            </a:pPr>
            <a:r>
              <a:rPr lang="en-US" sz="2800" dirty="0">
                <a:solidFill>
                  <a:srgbClr val="FF0000"/>
                </a:solidFill>
              </a:rPr>
              <a:t>the outcome of this process, where a consumer develops an understanding or a conclusion about an attended stimulus</a:t>
            </a:r>
          </a:p>
          <a:p>
            <a:pPr algn="just">
              <a:lnSpc>
                <a:spcPct val="107000"/>
              </a:lnSpc>
              <a:spcAft>
                <a:spcPts val="800"/>
              </a:spcAft>
            </a:pPr>
            <a:endParaRPr lang="en-US" sz="32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kern="100" dirty="0">
                <a:solidFill>
                  <a:srgbClr val="FF0000"/>
                </a:solidFill>
                <a:latin typeface="Arial" panose="020B0604020202020204" pitchFamily="34" charset="0"/>
                <a:ea typeface="Calibri" panose="020F0502020204030204" pitchFamily="34" charset="0"/>
                <a:cs typeface="Times New Roman" panose="02020603050405020304" pitchFamily="18" charset="0"/>
              </a:rPr>
              <a:t>(Stimuli that influence)</a:t>
            </a:r>
            <a:endParaRPr lang="en-US" sz="32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lvl="2"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 Brand names and symbols</a:t>
            </a:r>
          </a:p>
          <a:p>
            <a:pPr lvl="2"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 Product features and packaging </a:t>
            </a:r>
            <a:r>
              <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a:t>
            </a:r>
            <a:r>
              <a:rPr lang="en-PH" sz="2500" dirty="0">
                <a:solidFill>
                  <a:srgbClr val="FF0000"/>
                </a:solidFill>
              </a:rPr>
              <a:t>first physical interactions )</a:t>
            </a:r>
            <a:endPar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lvl="2"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 Price </a:t>
            </a:r>
            <a:r>
              <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a:t>
            </a:r>
            <a:r>
              <a:rPr lang="en-US" sz="2500" dirty="0">
                <a:solidFill>
                  <a:srgbClr val="FF0000"/>
                </a:solidFill>
              </a:rPr>
              <a:t>can be interpreted as a signal of quality or value.)</a:t>
            </a:r>
            <a:endPar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lvl="2"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 Message wording </a:t>
            </a:r>
            <a:r>
              <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a:t>
            </a:r>
            <a:r>
              <a:rPr lang="en-US" sz="2500" dirty="0">
                <a:solidFill>
                  <a:srgbClr val="FF0000"/>
                </a:solidFill>
              </a:rPr>
              <a:t>language used in advertising and product descriptions influences comprehension)</a:t>
            </a:r>
            <a:endPar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lvl="2" algn="just">
              <a:lnSpc>
                <a:spcPct val="107000"/>
              </a:lnSpc>
              <a:spcAft>
                <a:spcPts val="800"/>
              </a:spcAft>
            </a:pPr>
            <a:r>
              <a:rPr lang="en-US" sz="3200" kern="100" dirty="0">
                <a:effectLst/>
                <a:latin typeface="Arial" panose="020B0604020202020204" pitchFamily="34" charset="0"/>
                <a:ea typeface="Calibri" panose="020F0502020204030204" pitchFamily="34" charset="0"/>
                <a:cs typeface="Times New Roman" panose="02020603050405020304" pitchFamily="18" charset="0"/>
              </a:rPr>
              <a:t>- Retail atmospherics, displays and distribution </a:t>
            </a:r>
            <a:r>
              <a:rPr lang="en-US" sz="2500" kern="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 contribute to the consumer’s perception</a:t>
            </a:r>
          </a:p>
          <a:p>
            <a:pPr algn="just">
              <a:lnSpc>
                <a:spcPct val="107000"/>
              </a:lnSpc>
              <a:spcAft>
                <a:spcPts val="800"/>
              </a:spcAft>
            </a:pP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8330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5F93-5E1E-0D8C-7312-833EC9EAAA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9FF8E9-82F7-466C-28FE-BC4AB0F4A4D5}"/>
              </a:ext>
            </a:extLst>
          </p:cNvPr>
          <p:cNvSpPr/>
          <p:nvPr/>
        </p:nvSpPr>
        <p:spPr>
          <a:xfrm>
            <a:off x="0" y="-11061"/>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653CFF2F-2575-73AC-611F-2064344C9C00}"/>
              </a:ext>
            </a:extLst>
          </p:cNvPr>
          <p:cNvSpPr/>
          <p:nvPr/>
        </p:nvSpPr>
        <p:spPr>
          <a:xfrm>
            <a:off x="6248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E605F0B7-F0E1-A7B8-3652-067B5E929A7F}"/>
              </a:ext>
            </a:extLst>
          </p:cNvPr>
          <p:cNvSpPr/>
          <p:nvPr/>
        </p:nvSpPr>
        <p:spPr>
          <a:xfrm>
            <a:off x="12344400" y="0"/>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815D5D70-8A63-58BE-C6EF-7623CD26734F}"/>
              </a:ext>
            </a:extLst>
          </p:cNvPr>
          <p:cNvSpPr/>
          <p:nvPr/>
        </p:nvSpPr>
        <p:spPr>
          <a:xfrm>
            <a:off x="0" y="10154265"/>
            <a:ext cx="6096000" cy="114300"/>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493A30B2-2F0D-A657-D842-3182F900C642}"/>
              </a:ext>
            </a:extLst>
          </p:cNvPr>
          <p:cNvSpPr/>
          <p:nvPr/>
        </p:nvSpPr>
        <p:spPr>
          <a:xfrm>
            <a:off x="6248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30DE874A-FF0E-8B00-6895-423871F5AA38}"/>
              </a:ext>
            </a:extLst>
          </p:cNvPr>
          <p:cNvSpPr/>
          <p:nvPr/>
        </p:nvSpPr>
        <p:spPr>
          <a:xfrm>
            <a:off x="12344400" y="10165326"/>
            <a:ext cx="5943600" cy="121674"/>
          </a:xfrm>
          <a:prstGeom prst="rect">
            <a:avLst/>
          </a:prstGeom>
          <a:solidFill>
            <a:schemeClr val="accent5">
              <a:lumMod val="75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4" name="Group 30">
            <a:extLst>
              <a:ext uri="{FF2B5EF4-FFF2-40B4-BE49-F238E27FC236}">
                <a16:creationId xmlns:a16="http://schemas.microsoft.com/office/drawing/2014/main" id="{56CFFF45-26DA-C4AC-4B94-4BC484C56718}"/>
              </a:ext>
            </a:extLst>
          </p:cNvPr>
          <p:cNvGrpSpPr/>
          <p:nvPr/>
        </p:nvGrpSpPr>
        <p:grpSpPr>
          <a:xfrm>
            <a:off x="-172611" y="9338569"/>
            <a:ext cx="3930275" cy="891767"/>
            <a:chOff x="0" y="0"/>
            <a:chExt cx="5240366" cy="1189023"/>
          </a:xfrm>
        </p:grpSpPr>
        <p:sp>
          <p:nvSpPr>
            <p:cNvPr id="15" name="Freeform 31">
              <a:extLst>
                <a:ext uri="{FF2B5EF4-FFF2-40B4-BE49-F238E27FC236}">
                  <a16:creationId xmlns:a16="http://schemas.microsoft.com/office/drawing/2014/main" id="{02824776-29CD-A9CF-74BE-BE8899FF09D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16" name="Freeform 32">
              <a:extLst>
                <a:ext uri="{FF2B5EF4-FFF2-40B4-BE49-F238E27FC236}">
                  <a16:creationId xmlns:a16="http://schemas.microsoft.com/office/drawing/2014/main" id="{E8724620-53BF-BA23-B22A-D13E97F27B65}"/>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17" name="Freeform 33">
              <a:extLst>
                <a:ext uri="{FF2B5EF4-FFF2-40B4-BE49-F238E27FC236}">
                  <a16:creationId xmlns:a16="http://schemas.microsoft.com/office/drawing/2014/main" id="{F53E3E35-3C01-1EAC-927C-7F59B7D4F0D8}"/>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18" name="Freeform 34">
              <a:extLst>
                <a:ext uri="{FF2B5EF4-FFF2-40B4-BE49-F238E27FC236}">
                  <a16:creationId xmlns:a16="http://schemas.microsoft.com/office/drawing/2014/main" id="{E239BAB0-DCB7-A1D3-E207-584E99D16809}"/>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19" name="Group 30">
            <a:extLst>
              <a:ext uri="{FF2B5EF4-FFF2-40B4-BE49-F238E27FC236}">
                <a16:creationId xmlns:a16="http://schemas.microsoft.com/office/drawing/2014/main" id="{0222E48A-B46B-CAF3-24D5-57C0B4FAEDE5}"/>
              </a:ext>
            </a:extLst>
          </p:cNvPr>
          <p:cNvGrpSpPr/>
          <p:nvPr/>
        </p:nvGrpSpPr>
        <p:grpSpPr>
          <a:xfrm>
            <a:off x="3597937" y="9326382"/>
            <a:ext cx="3930275" cy="891767"/>
            <a:chOff x="0" y="0"/>
            <a:chExt cx="5240366" cy="1189023"/>
          </a:xfrm>
        </p:grpSpPr>
        <p:sp>
          <p:nvSpPr>
            <p:cNvPr id="20" name="Freeform 31">
              <a:extLst>
                <a:ext uri="{FF2B5EF4-FFF2-40B4-BE49-F238E27FC236}">
                  <a16:creationId xmlns:a16="http://schemas.microsoft.com/office/drawing/2014/main" id="{141EF2EE-527E-32F4-1C4B-AF6687D6F258}"/>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1" name="Freeform 32">
              <a:extLst>
                <a:ext uri="{FF2B5EF4-FFF2-40B4-BE49-F238E27FC236}">
                  <a16:creationId xmlns:a16="http://schemas.microsoft.com/office/drawing/2014/main" id="{750CC0AC-67A0-56BA-F888-78DDE1BB6718}"/>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2" name="Freeform 33">
              <a:extLst>
                <a:ext uri="{FF2B5EF4-FFF2-40B4-BE49-F238E27FC236}">
                  <a16:creationId xmlns:a16="http://schemas.microsoft.com/office/drawing/2014/main" id="{D29FE065-A6F9-20A6-ABAC-12EB7E44E810}"/>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3" name="Freeform 34">
              <a:extLst>
                <a:ext uri="{FF2B5EF4-FFF2-40B4-BE49-F238E27FC236}">
                  <a16:creationId xmlns:a16="http://schemas.microsoft.com/office/drawing/2014/main" id="{5A5A0E13-B913-8E26-06BF-CA2F171CADAB}"/>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4" name="Group 30">
            <a:extLst>
              <a:ext uri="{FF2B5EF4-FFF2-40B4-BE49-F238E27FC236}">
                <a16:creationId xmlns:a16="http://schemas.microsoft.com/office/drawing/2014/main" id="{8F6AA763-510E-A8CC-81D5-4604184FB8FC}"/>
              </a:ext>
            </a:extLst>
          </p:cNvPr>
          <p:cNvGrpSpPr/>
          <p:nvPr/>
        </p:nvGrpSpPr>
        <p:grpSpPr>
          <a:xfrm>
            <a:off x="7418962" y="9257303"/>
            <a:ext cx="3930275" cy="891767"/>
            <a:chOff x="0" y="0"/>
            <a:chExt cx="5240366" cy="1189023"/>
          </a:xfrm>
        </p:grpSpPr>
        <p:sp>
          <p:nvSpPr>
            <p:cNvPr id="25" name="Freeform 31">
              <a:extLst>
                <a:ext uri="{FF2B5EF4-FFF2-40B4-BE49-F238E27FC236}">
                  <a16:creationId xmlns:a16="http://schemas.microsoft.com/office/drawing/2014/main" id="{921DE43E-C3D5-C90D-AF01-4A8A3B877AFC}"/>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26" name="Freeform 32">
              <a:extLst>
                <a:ext uri="{FF2B5EF4-FFF2-40B4-BE49-F238E27FC236}">
                  <a16:creationId xmlns:a16="http://schemas.microsoft.com/office/drawing/2014/main" id="{F43F4043-1FA1-1712-654E-14440EE3970F}"/>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27" name="Freeform 33">
              <a:extLst>
                <a:ext uri="{FF2B5EF4-FFF2-40B4-BE49-F238E27FC236}">
                  <a16:creationId xmlns:a16="http://schemas.microsoft.com/office/drawing/2014/main" id="{A94573A5-263A-A3CB-0A24-58E1A4BF0CBF}"/>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28" name="Freeform 34">
              <a:extLst>
                <a:ext uri="{FF2B5EF4-FFF2-40B4-BE49-F238E27FC236}">
                  <a16:creationId xmlns:a16="http://schemas.microsoft.com/office/drawing/2014/main" id="{A4DDA234-E8EF-4D43-5F40-53AA1F06C24A}"/>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29" name="Group 30">
            <a:extLst>
              <a:ext uri="{FF2B5EF4-FFF2-40B4-BE49-F238E27FC236}">
                <a16:creationId xmlns:a16="http://schemas.microsoft.com/office/drawing/2014/main" id="{B333AC03-6694-913C-B4D7-0945079E1BF7}"/>
              </a:ext>
            </a:extLst>
          </p:cNvPr>
          <p:cNvGrpSpPr/>
          <p:nvPr/>
        </p:nvGrpSpPr>
        <p:grpSpPr>
          <a:xfrm>
            <a:off x="11189510" y="9264956"/>
            <a:ext cx="3930275" cy="891767"/>
            <a:chOff x="0" y="0"/>
            <a:chExt cx="5240366" cy="1189023"/>
          </a:xfrm>
        </p:grpSpPr>
        <p:sp>
          <p:nvSpPr>
            <p:cNvPr id="30" name="Freeform 31">
              <a:extLst>
                <a:ext uri="{FF2B5EF4-FFF2-40B4-BE49-F238E27FC236}">
                  <a16:creationId xmlns:a16="http://schemas.microsoft.com/office/drawing/2014/main" id="{E3A9AF07-6F5A-B1B9-6D18-0DA0366C5E7F}"/>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1" name="Freeform 32">
              <a:extLst>
                <a:ext uri="{FF2B5EF4-FFF2-40B4-BE49-F238E27FC236}">
                  <a16:creationId xmlns:a16="http://schemas.microsoft.com/office/drawing/2014/main" id="{F932894C-2734-5341-3536-B7FEEE516452}"/>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2" name="Freeform 33">
              <a:extLst>
                <a:ext uri="{FF2B5EF4-FFF2-40B4-BE49-F238E27FC236}">
                  <a16:creationId xmlns:a16="http://schemas.microsoft.com/office/drawing/2014/main" id="{77E37BED-8B4D-84FA-671A-ADE7BA2E90C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3" name="Freeform 34">
              <a:extLst>
                <a:ext uri="{FF2B5EF4-FFF2-40B4-BE49-F238E27FC236}">
                  <a16:creationId xmlns:a16="http://schemas.microsoft.com/office/drawing/2014/main" id="{640F4449-2BDF-E95F-D75A-1E590AB48B43}"/>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grpSp>
        <p:nvGrpSpPr>
          <p:cNvPr id="34" name="Group 30">
            <a:extLst>
              <a:ext uri="{FF2B5EF4-FFF2-40B4-BE49-F238E27FC236}">
                <a16:creationId xmlns:a16="http://schemas.microsoft.com/office/drawing/2014/main" id="{C322CFE1-0405-2665-BAA3-EF3DE4B429E4}"/>
              </a:ext>
            </a:extLst>
          </p:cNvPr>
          <p:cNvGrpSpPr/>
          <p:nvPr/>
        </p:nvGrpSpPr>
        <p:grpSpPr>
          <a:xfrm>
            <a:off x="14849554" y="9299398"/>
            <a:ext cx="3930275" cy="891767"/>
            <a:chOff x="0" y="0"/>
            <a:chExt cx="5240366" cy="1189023"/>
          </a:xfrm>
        </p:grpSpPr>
        <p:sp>
          <p:nvSpPr>
            <p:cNvPr id="35" name="Freeform 31">
              <a:extLst>
                <a:ext uri="{FF2B5EF4-FFF2-40B4-BE49-F238E27FC236}">
                  <a16:creationId xmlns:a16="http://schemas.microsoft.com/office/drawing/2014/main" id="{16EC5642-F6CA-899C-538D-E7AFA96B9C30}"/>
                </a:ext>
              </a:extLst>
            </p:cNvPr>
            <p:cNvSpPr/>
            <p:nvPr/>
          </p:nvSpPr>
          <p:spPr>
            <a:xfrm>
              <a:off x="2405542" y="0"/>
              <a:ext cx="1538552" cy="1189023"/>
            </a:xfrm>
            <a:custGeom>
              <a:avLst/>
              <a:gdLst/>
              <a:ahLst/>
              <a:cxnLst/>
              <a:rect l="l" t="t" r="r" b="b"/>
              <a:pathLst>
                <a:path w="1538552" h="1189023">
                  <a:moveTo>
                    <a:pt x="0" y="0"/>
                  </a:moveTo>
                  <a:lnTo>
                    <a:pt x="1538552" y="0"/>
                  </a:lnTo>
                  <a:lnTo>
                    <a:pt x="1538552" y="1189023"/>
                  </a:lnTo>
                  <a:lnTo>
                    <a:pt x="0" y="1189023"/>
                  </a:lnTo>
                  <a:lnTo>
                    <a:pt x="0" y="0"/>
                  </a:lnTo>
                  <a:close/>
                </a:path>
              </a:pathLst>
            </a:custGeom>
            <a:blipFill>
              <a:blip r:embed="rId2"/>
              <a:stretch>
                <a:fillRect b="-39747"/>
              </a:stretch>
            </a:blipFill>
          </p:spPr>
        </p:sp>
        <p:sp>
          <p:nvSpPr>
            <p:cNvPr id="36" name="Freeform 32">
              <a:extLst>
                <a:ext uri="{FF2B5EF4-FFF2-40B4-BE49-F238E27FC236}">
                  <a16:creationId xmlns:a16="http://schemas.microsoft.com/office/drawing/2014/main" id="{680B97F0-FEB0-9F0A-36B6-AFA4B90F92CA}"/>
                </a:ext>
              </a:extLst>
            </p:cNvPr>
            <p:cNvSpPr/>
            <p:nvPr/>
          </p:nvSpPr>
          <p:spPr>
            <a:xfrm>
              <a:off x="3637295" y="185832"/>
              <a:ext cx="1603071" cy="889412"/>
            </a:xfrm>
            <a:custGeom>
              <a:avLst/>
              <a:gdLst/>
              <a:ahLst/>
              <a:cxnLst/>
              <a:rect l="l" t="t" r="r" b="b"/>
              <a:pathLst>
                <a:path w="1603071" h="889412">
                  <a:moveTo>
                    <a:pt x="0" y="0"/>
                  </a:moveTo>
                  <a:lnTo>
                    <a:pt x="1603071" y="0"/>
                  </a:lnTo>
                  <a:lnTo>
                    <a:pt x="1603071" y="889412"/>
                  </a:lnTo>
                  <a:lnTo>
                    <a:pt x="0" y="889412"/>
                  </a:lnTo>
                  <a:lnTo>
                    <a:pt x="0" y="0"/>
                  </a:lnTo>
                  <a:close/>
                </a:path>
              </a:pathLst>
            </a:custGeom>
            <a:blipFill>
              <a:blip r:embed="rId3"/>
              <a:stretch>
                <a:fillRect/>
              </a:stretch>
            </a:blipFill>
          </p:spPr>
        </p:sp>
        <p:sp>
          <p:nvSpPr>
            <p:cNvPr id="37" name="Freeform 33">
              <a:extLst>
                <a:ext uri="{FF2B5EF4-FFF2-40B4-BE49-F238E27FC236}">
                  <a16:creationId xmlns:a16="http://schemas.microsoft.com/office/drawing/2014/main" id="{541B9E01-A165-1FB1-93D9-EB68A0B9CAD2}"/>
                </a:ext>
              </a:extLst>
            </p:cNvPr>
            <p:cNvSpPr/>
            <p:nvPr/>
          </p:nvSpPr>
          <p:spPr>
            <a:xfrm>
              <a:off x="1518952" y="101743"/>
              <a:ext cx="1035041" cy="1077384"/>
            </a:xfrm>
            <a:custGeom>
              <a:avLst/>
              <a:gdLst/>
              <a:ahLst/>
              <a:cxnLst/>
              <a:rect l="l" t="t" r="r" b="b"/>
              <a:pathLst>
                <a:path w="1035041" h="1077384">
                  <a:moveTo>
                    <a:pt x="0" y="0"/>
                  </a:moveTo>
                  <a:lnTo>
                    <a:pt x="1035041" y="0"/>
                  </a:lnTo>
                  <a:lnTo>
                    <a:pt x="1035041" y="1077384"/>
                  </a:lnTo>
                  <a:lnTo>
                    <a:pt x="0" y="1077384"/>
                  </a:lnTo>
                  <a:lnTo>
                    <a:pt x="0" y="0"/>
                  </a:lnTo>
                  <a:close/>
                </a:path>
              </a:pathLst>
            </a:custGeom>
            <a:blipFill>
              <a:blip r:embed="rId4"/>
              <a:stretch>
                <a:fillRect/>
              </a:stretch>
            </a:blipFill>
          </p:spPr>
        </p:sp>
        <p:sp>
          <p:nvSpPr>
            <p:cNvPr id="38" name="Freeform 34">
              <a:extLst>
                <a:ext uri="{FF2B5EF4-FFF2-40B4-BE49-F238E27FC236}">
                  <a16:creationId xmlns:a16="http://schemas.microsoft.com/office/drawing/2014/main" id="{027E141C-ED12-E89B-9857-A538482B58E6}"/>
                </a:ext>
              </a:extLst>
            </p:cNvPr>
            <p:cNvSpPr/>
            <p:nvPr/>
          </p:nvSpPr>
          <p:spPr>
            <a:xfrm>
              <a:off x="0" y="300473"/>
              <a:ext cx="1329976" cy="799480"/>
            </a:xfrm>
            <a:custGeom>
              <a:avLst/>
              <a:gdLst/>
              <a:ahLst/>
              <a:cxnLst/>
              <a:rect l="l" t="t" r="r" b="b"/>
              <a:pathLst>
                <a:path w="1329976" h="799480">
                  <a:moveTo>
                    <a:pt x="0" y="0"/>
                  </a:moveTo>
                  <a:lnTo>
                    <a:pt x="1329976" y="0"/>
                  </a:lnTo>
                  <a:lnTo>
                    <a:pt x="1329976" y="799480"/>
                  </a:lnTo>
                  <a:lnTo>
                    <a:pt x="0" y="799480"/>
                  </a:lnTo>
                  <a:lnTo>
                    <a:pt x="0" y="0"/>
                  </a:lnTo>
                  <a:close/>
                </a:path>
              </a:pathLst>
            </a:custGeom>
            <a:blipFill>
              <a:blip r:embed="rId5"/>
              <a:stretch>
                <a:fillRect/>
              </a:stretch>
            </a:blipFill>
          </p:spPr>
        </p:sp>
      </p:grpSp>
      <p:pic>
        <p:nvPicPr>
          <p:cNvPr id="13" name="Picture 12">
            <a:extLst>
              <a:ext uri="{FF2B5EF4-FFF2-40B4-BE49-F238E27FC236}">
                <a16:creationId xmlns:a16="http://schemas.microsoft.com/office/drawing/2014/main" id="{82EB2562-78CE-92B2-9E17-858E2B3528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3728" y="1095488"/>
            <a:ext cx="13203308" cy="7418581"/>
          </a:xfrm>
          <a:prstGeom prst="rect">
            <a:avLst/>
          </a:prstGeom>
        </p:spPr>
      </p:pic>
    </p:spTree>
    <p:extLst>
      <p:ext uri="{BB962C8B-B14F-4D97-AF65-F5344CB8AC3E}">
        <p14:creationId xmlns:p14="http://schemas.microsoft.com/office/powerpoint/2010/main" val="2192154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2528</TotalTime>
  <Words>698</Words>
  <Application>Microsoft Office PowerPoint</Application>
  <PresentationFormat>Custom</PresentationFormat>
  <Paragraphs>80</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Canva Sans Bold</vt:lpstr>
      <vt:lpstr>Calibri</vt:lpstr>
      <vt:lpstr>Arial</vt:lpstr>
      <vt:lpstr>Aqua Embrace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dc:creator>CAVSU</dc:creator>
  <cp:lastModifiedBy>Dianalyn Castillo</cp:lastModifiedBy>
  <cp:revision>122</cp:revision>
  <dcterms:created xsi:type="dcterms:W3CDTF">2006-08-16T00:00:00Z</dcterms:created>
  <dcterms:modified xsi:type="dcterms:W3CDTF">2026-09-17T15:03:38Z</dcterms:modified>
  <dc:identifier>DAGNOWNNAOg</dc:identifier>
</cp:coreProperties>
</file>